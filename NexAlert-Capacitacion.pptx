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23560" y="502920"/>
            <a:ext cx="1005840" cy="1005840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612648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CAPACITACION NEXALERT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95B8"/>
                </a:solidFill>
              </a:defRPr>
            </a:pPr>
            <a:r>
              <a:t>Guia completa para tecnicos en campo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3337560"/>
            <a:ext cx="2468880" cy="27432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A9DFF"/>
                </a:solidFill>
              </a:defRPr>
            </a:pPr>
            <a:r>
              <a:t>App Android  |  v1.5.5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297680"/>
            <a:ext cx="1371600" cy="201168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431596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A9DFF"/>
                </a:solidFill>
              </a:defRPr>
            </a:pPr>
            <a:r>
              <a:t>Crear reportes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4297680"/>
            <a:ext cx="1371600" cy="201168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431596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A9DFF"/>
                </a:solidFill>
              </a:defRPr>
            </a:pPr>
            <a:r>
              <a:t>Tomar fotos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4297680"/>
            <a:ext cx="1371600" cy="201168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31596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A9DFF"/>
                </a:solidFill>
              </a:defRPr>
            </a:pPr>
            <a:r>
              <a:t>Firma digital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19" y="4297680"/>
            <a:ext cx="1371600" cy="201168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19" y="431596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A9DFF"/>
                </a:solidFill>
              </a:defRPr>
            </a:pPr>
            <a:r>
              <a:t>Trabajar offline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4297680"/>
            <a:ext cx="1371600" cy="201168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431596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A9DFF"/>
                </a:solidFill>
              </a:defRPr>
            </a:pPr>
            <a:r>
              <a:t>GPS automatico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4297680"/>
            <a:ext cx="1371600" cy="201168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431596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A9DFF"/>
                </a:solidFill>
              </a:defRPr>
            </a:pPr>
            <a:r>
              <a:t>Compartir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5B8"/>
                </a:solidFill>
              </a:defRPr>
            </a:pPr>
            <a:r>
              <a:t>NEXUS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Bienvenido - Primeros Pasos</a:t>
            </a:r>
          </a:p>
          <a:p>
            <a:pPr>
              <a:spcBef>
                <a:spcPts val="400"/>
              </a:spcBef>
              <a:defRPr sz="1400">
                <a:solidFill>
                  <a:srgbClr val="8B95B8"/>
                </a:solidFill>
              </a:defRPr>
            </a:pPr>
            <a:r>
              <a:t>Configura tu acceso y comienza a reportar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667512"/>
            <a:ext cx="3657600" cy="6217920"/>
          </a:xfrm>
          <a:prstGeom prst="round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640080"/>
            <a:ext cx="3657600" cy="6217920"/>
          </a:xfrm>
          <a:prstGeom prst="roundRect">
            <a:avLst/>
          </a:prstGeom>
          <a:solidFill>
            <a:srgbClr val="0F1526"/>
          </a:solidFill>
          <a:ln w="635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" y="704088"/>
            <a:ext cx="3529584" cy="6089904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1640" y="649224"/>
            <a:ext cx="822960" cy="36576"/>
          </a:xfrm>
          <a:prstGeom prst="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83079" y="1207008"/>
            <a:ext cx="640080" cy="640080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79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938528"/>
            <a:ext cx="3163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EF2FF"/>
                </a:solidFill>
              </a:defRPr>
            </a:pPr>
            <a:r>
              <a:t>Bienvenido, tecnico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" y="2350008"/>
            <a:ext cx="3163824" cy="365760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" y="2377440"/>
            <a:ext cx="2980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Usuario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" y="2852928"/>
            <a:ext cx="3163824" cy="365760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" y="2880360"/>
            <a:ext cx="2980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Contrasena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" y="3355848"/>
            <a:ext cx="3163824" cy="347472"/>
          </a:xfrm>
          <a:prstGeom prst="round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3374136"/>
            <a:ext cx="3163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Entrar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" y="3813048"/>
            <a:ext cx="3163824" cy="320040"/>
          </a:xfrm>
          <a:prstGeom prst="roundRect">
            <a:avLst/>
          </a:prstGeom>
          <a:solidFill>
            <a:srgbClr val="1B2440"/>
          </a:solidFill>
          <a:ln w="635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3840480"/>
            <a:ext cx="316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EF2FF"/>
                </a:solidFill>
              </a:defRPr>
            </a:pPr>
            <a:r>
              <a:t>Entrar con biometria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777240"/>
            <a:ext cx="3657600" cy="539496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7DFF"/>
                </a:solidFill>
              </a:defRPr>
            </a:pPr>
            <a:r>
              <a:t>Configuracion inicial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0" y="1371600"/>
            <a:ext cx="365760" cy="365760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3990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13441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F2FF"/>
                </a:solidFill>
              </a:defRPr>
            </a:pPr>
            <a:r>
              <a:t>Descargar la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15819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B8"/>
                </a:solidFill>
              </a:defRPr>
            </a:pPr>
            <a:r>
              <a:t>Instala NexAlert desde el enlace</a:t>
            </a:r>
            <a:br/>
            <a:r>
              <a:t>de tu administrador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0" y="2560320"/>
            <a:ext cx="365760" cy="365760"/>
          </a:xfrm>
          <a:prstGeom prst="ellipse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587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532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F2FF"/>
                </a:solidFill>
              </a:defRPr>
            </a:pPr>
            <a:r>
              <a:t>Iniciar sesion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27706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B8"/>
                </a:solidFill>
              </a:defRPr>
            </a:pPr>
            <a:r>
              <a:t>Usa tu usuario y contrasena</a:t>
            </a:r>
            <a:br/>
            <a:r>
              <a:t>asignados por el gerente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0" y="3749039"/>
            <a:ext cx="365760" cy="365760"/>
          </a:xfrm>
          <a:prstGeom prst="ellipse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3776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3721607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F2FF"/>
                </a:solidFill>
              </a:defRPr>
            </a:pPr>
            <a:r>
              <a:t>Configurar biometria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39593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B8"/>
                </a:solidFill>
              </a:defRPr>
            </a:pPr>
            <a:r>
              <a:t>Activa huella o rostro para</a:t>
            </a:r>
            <a:br/>
            <a:r>
              <a:t>acceso rapido futuro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0" y="4937760"/>
            <a:ext cx="365760" cy="36576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965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4910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F2FF"/>
                </a:solidFill>
              </a:defRPr>
            </a:pPr>
            <a:r>
              <a:t>Primer reporte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5148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B8"/>
                </a:solidFill>
              </a:defRPr>
            </a:pPr>
            <a:r>
              <a:t>Toca el boton + y crea tu</a:t>
            </a:r>
            <a:br/>
            <a:r>
              <a:t>primer reporte de falla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777240"/>
            <a:ext cx="3383280" cy="539496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19" y="868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6C"/>
                </a:solidFill>
              </a:defRPr>
            </a:pPr>
            <a:r>
              <a:t>Seguridad</a:t>
            </a:r>
          </a:p>
        </p:txBody>
      </p:sp>
      <p:sp>
        <p:nvSpPr>
          <p:cNvPr id="40" name="Oval 39"/>
          <p:cNvSpPr/>
          <p:nvPr/>
        </p:nvSpPr>
        <p:spPr>
          <a:xfrm>
            <a:off x="8503919" y="1463040"/>
            <a:ext cx="164592" cy="164592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14173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BF2"/>
                </a:solidFill>
              </a:defRPr>
            </a:pPr>
            <a:r>
              <a:t>Cada tecnico tiene usuario propio</a:t>
            </a:r>
          </a:p>
        </p:txBody>
      </p:sp>
      <p:sp>
        <p:nvSpPr>
          <p:cNvPr id="42" name="Oval 41"/>
          <p:cNvSpPr/>
          <p:nvPr/>
        </p:nvSpPr>
        <p:spPr>
          <a:xfrm>
            <a:off x="8503919" y="2103120"/>
            <a:ext cx="164592" cy="164592"/>
          </a:xfrm>
          <a:prstGeom prst="ellipse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2057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BF2"/>
                </a:solidFill>
              </a:defRPr>
            </a:pPr>
            <a:r>
              <a:t>La biometria es opcional pero recomendada</a:t>
            </a:r>
          </a:p>
        </p:txBody>
      </p:sp>
      <p:sp>
        <p:nvSpPr>
          <p:cNvPr id="44" name="Oval 43"/>
          <p:cNvSpPr/>
          <p:nvPr/>
        </p:nvSpPr>
        <p:spPr>
          <a:xfrm>
            <a:off x="8503919" y="2743200"/>
            <a:ext cx="164592" cy="164592"/>
          </a:xfrm>
          <a:prstGeom prst="ellipse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2697479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BF2"/>
                </a:solidFill>
              </a:defRPr>
            </a:pPr>
            <a:r>
              <a:t>Las credenciales se guardan localmente</a:t>
            </a:r>
          </a:p>
        </p:txBody>
      </p:sp>
      <p:sp>
        <p:nvSpPr>
          <p:cNvPr id="46" name="Oval 45"/>
          <p:cNvSpPr/>
          <p:nvPr/>
        </p:nvSpPr>
        <p:spPr>
          <a:xfrm>
            <a:off x="8503919" y="3383279"/>
            <a:ext cx="164592" cy="164592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3337559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BF2"/>
                </a:solidFill>
              </a:defRPr>
            </a:pPr>
            <a:r>
              <a:t>Puedes cerrar sesion desde el menu</a:t>
            </a:r>
          </a:p>
        </p:txBody>
      </p:sp>
      <p:sp>
        <p:nvSpPr>
          <p:cNvPr id="48" name="Oval 47"/>
          <p:cNvSpPr/>
          <p:nvPr/>
        </p:nvSpPr>
        <p:spPr>
          <a:xfrm>
            <a:off x="8503919" y="4023359"/>
            <a:ext cx="164592" cy="164592"/>
          </a:xfrm>
          <a:prstGeom prst="ellipse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0" y="3977639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BF2"/>
                </a:solidFill>
              </a:defRPr>
            </a:pPr>
            <a:r>
              <a:t>La sesion se cierra al cerrar la app</a:t>
            </a:r>
          </a:p>
        </p:txBody>
      </p:sp>
      <p:sp>
        <p:nvSpPr>
          <p:cNvPr id="50" name="Oval 49"/>
          <p:cNvSpPr/>
          <p:nvPr/>
        </p:nvSpPr>
        <p:spPr>
          <a:xfrm>
            <a:off x="8503919" y="4663440"/>
            <a:ext cx="164592" cy="164592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0" y="4617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BF2"/>
                </a:solidFill>
              </a:defRPr>
            </a:pPr>
            <a:r>
              <a:t>Los reportes incluyen tu identificacion</a:t>
            </a:r>
          </a:p>
        </p:txBody>
      </p:sp>
      <p:sp>
        <p:nvSpPr>
          <p:cNvPr id="52" name="Oval 51"/>
          <p:cNvSpPr/>
          <p:nvPr/>
        </p:nvSpPr>
        <p:spPr>
          <a:xfrm>
            <a:off x="8503919" y="5303519"/>
            <a:ext cx="164592" cy="164592"/>
          </a:xfrm>
          <a:prstGeom prst="ellipse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5257799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BF2"/>
                </a:solidFill>
              </a:defRPr>
            </a:pPr>
            <a:r>
              <a:t>Tu ubicacion GPS se registra al reportar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Pantalla Principal</a:t>
            </a:r>
          </a:p>
          <a:p>
            <a:pPr>
              <a:spcBef>
                <a:spcPts val="400"/>
              </a:spcBef>
              <a:defRPr sz="1400">
                <a:solidFill>
                  <a:srgbClr val="8B95B8"/>
                </a:solidFill>
              </a:defRPr>
            </a:pPr>
            <a:r>
              <a:t>Tu lista de reportes asignados con filtros y busqueda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667512"/>
            <a:ext cx="3657600" cy="6217920"/>
          </a:xfrm>
          <a:prstGeom prst="round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640080"/>
            <a:ext cx="3657600" cy="6217920"/>
          </a:xfrm>
          <a:prstGeom prst="roundRect">
            <a:avLst/>
          </a:prstGeom>
          <a:solidFill>
            <a:srgbClr val="0F1526"/>
          </a:solidFill>
          <a:ln w="635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" y="704088"/>
            <a:ext cx="3529584" cy="6089904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1640" y="649224"/>
            <a:ext cx="822960" cy="36576"/>
          </a:xfrm>
          <a:prstGeom prst="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" y="704088"/>
            <a:ext cx="3529584" cy="384048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786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777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NexAlert</a:t>
            </a:r>
          </a:p>
        </p:txBody>
      </p:sp>
      <p:sp>
        <p:nvSpPr>
          <p:cNvPr id="13" name="Oval 12"/>
          <p:cNvSpPr/>
          <p:nvPr/>
        </p:nvSpPr>
        <p:spPr>
          <a:xfrm>
            <a:off x="3227831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1" y="77724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5" y="77724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5B8"/>
                </a:solidFill>
              </a:defRPr>
            </a:pPr>
            <a: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1179576"/>
            <a:ext cx="3255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F2FF"/>
                </a:solidFill>
              </a:defRPr>
            </a:pPr>
            <a:r>
              <a:t>Mis reportes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1408176"/>
            <a:ext cx="325526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Actualizado hace 2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" y="1618488"/>
            <a:ext cx="3310128" cy="292608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1645920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Buscar cliente, equipo...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" y="1984248"/>
            <a:ext cx="1051560" cy="256032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2002536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Todos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72768" y="1984248"/>
            <a:ext cx="2185415" cy="256032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19" y="2002536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Prioridad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" y="2395728"/>
            <a:ext cx="3310128" cy="960120"/>
          </a:xfrm>
          <a:prstGeom prst="roundRect">
            <a:avLst/>
          </a:prstGeom>
          <a:solidFill>
            <a:srgbClr val="111830"/>
          </a:solidFill>
          <a:ln w="381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" y="2395728"/>
            <a:ext cx="27432" cy="960120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" y="245059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EF2FF"/>
                </a:solidFill>
              </a:defRPr>
            </a:pPr>
            <a:r>
              <a:t>Minera del Sur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18103" y="2450592"/>
            <a:ext cx="649224" cy="182880"/>
          </a:xfrm>
          <a:prstGeom prst="roundRect">
            <a:avLst/>
          </a:prstGeom>
          <a:solidFill>
            <a:srgbClr val="3A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18103" y="2459736"/>
            <a:ext cx="6492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Abierto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" y="2670048"/>
            <a:ext cx="312724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Compresor Atlas Copco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" y="2852928"/>
            <a:ext cx="3127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4DBF2"/>
                </a:solidFill>
              </a:defRPr>
            </a:pPr>
            <a:r>
              <a:t>Fuga de aceite en el compresor principal, requiere revision urgente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" y="3145536"/>
            <a:ext cx="649224" cy="182880"/>
          </a:xfrm>
          <a:prstGeom prst="round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" y="3154679"/>
            <a:ext cx="6492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Urgente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8136" y="3145536"/>
            <a:ext cx="548640" cy="182880"/>
          </a:xfrm>
          <a:prstGeom prst="roundRect">
            <a:avLst/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8136" y="3154679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Fotos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36391" y="3163824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8B95B8"/>
                </a:solidFill>
              </a:defRPr>
            </a:pPr>
            <a:r>
              <a:t>15 Ago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" y="3538728"/>
            <a:ext cx="3310128" cy="960120"/>
          </a:xfrm>
          <a:prstGeom prst="roundRect">
            <a:avLst/>
          </a:prstGeom>
          <a:solidFill>
            <a:srgbClr val="111830"/>
          </a:solidFill>
          <a:ln w="381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8056" y="3538728"/>
            <a:ext cx="27432" cy="960120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" y="359359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EF2FF"/>
                </a:solidFill>
              </a:defRPr>
            </a:pPr>
            <a:r>
              <a:t>Cementos Argos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44951" y="3593592"/>
            <a:ext cx="868680" cy="182880"/>
          </a:xfrm>
          <a:prstGeom prst="roundRect">
            <a:avLst/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44951" y="3602736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En proceso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" y="3813048"/>
            <a:ext cx="312724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Molino vertical VRM-4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" y="3995928"/>
            <a:ext cx="3127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4DBF2"/>
                </a:solidFill>
              </a:defRPr>
            </a:pPr>
            <a:r>
              <a:t>Vibracion excesiva en rodamiento superior, requiere cambio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7784" y="4288536"/>
            <a:ext cx="576072" cy="182880"/>
          </a:xfrm>
          <a:prstGeom prst="round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" y="4297680"/>
            <a:ext cx="5760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Normal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36391" y="4306824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8B95B8"/>
                </a:solidFill>
              </a:defRPr>
            </a:pPr>
            <a:r>
              <a:t>14 Ago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6" y="4681727"/>
            <a:ext cx="3310128" cy="960120"/>
          </a:xfrm>
          <a:prstGeom prst="roundRect">
            <a:avLst/>
          </a:prstGeom>
          <a:solidFill>
            <a:srgbClr val="111830"/>
          </a:solidFill>
          <a:ln w="381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8056" y="4681727"/>
            <a:ext cx="27432" cy="96012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" y="4736591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EF2FF"/>
                </a:solidFill>
              </a:defRPr>
            </a:pPr>
            <a:r>
              <a:t>Ecopetrol SA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82111" y="4736591"/>
            <a:ext cx="722376" cy="182880"/>
          </a:xfrm>
          <a:prstGeom prst="roundRect">
            <a:avLst/>
          </a:prstGeom>
          <a:solidFill>
            <a:srgbClr val="0F2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82111" y="4745735"/>
            <a:ext cx="722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Resuelto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" y="4956047"/>
            <a:ext cx="312724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Turbina de gas TG-200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" y="5138927"/>
            <a:ext cx="3127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4DBF2"/>
                </a:solidFill>
              </a:defRPr>
            </a:pPr>
            <a:r>
              <a:t>Fallo en sistema de lubricacion, repuesto instalado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7784" y="5431536"/>
            <a:ext cx="548640" cy="182880"/>
          </a:xfrm>
          <a:prstGeom prst="roundRect">
            <a:avLst/>
          </a:prstGeom>
          <a:solidFill>
            <a:srgbClr val="565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7784" y="5440679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Baja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36391" y="5449823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8B95B8"/>
                </a:solidFill>
              </a:defRPr>
            </a:pPr>
            <a:r>
              <a:t>10 Ago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89120" y="777240"/>
            <a:ext cx="3657600" cy="539496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7DFF"/>
                </a:solidFill>
              </a:defRPr>
            </a:pPr>
            <a:r>
              <a:t>Elementos de la pantalla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1325880"/>
            <a:ext cx="54864" cy="347472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0" y="129844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7DFF"/>
                </a:solidFill>
              </a:defRPr>
            </a:pPr>
            <a:r>
              <a:t>Topbar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79" y="12984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Logo + boton nuevo (+) + menu (...)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1828800"/>
            <a:ext cx="54864" cy="347472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80" y="180136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D07F"/>
                </a:solidFill>
              </a:defRPr>
            </a:pPr>
            <a:r>
              <a:t>Busqueda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79" y="18013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Escribe nombre del cliente, equipo o problema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2331720"/>
            <a:ext cx="54864" cy="347472"/>
          </a:xfrm>
          <a:prstGeom prst="rect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54880" y="230428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7AFF"/>
                </a:solidFill>
              </a:defRPr>
            </a:pPr>
            <a:r>
              <a:t>Filtro estado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79" y="23042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Abierto, En proceso, Resuelto, En espera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0" y="2834639"/>
            <a:ext cx="54864" cy="347472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0" y="280720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C6C"/>
                </a:solidFill>
              </a:defRPr>
            </a:pPr>
            <a:r>
              <a:t>Filtro prioridad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79" y="280720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Urgente, Alta, Normal, Baja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0" y="3337560"/>
            <a:ext cx="54864" cy="347472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0" y="331012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7DFF"/>
                </a:solidFill>
              </a:defRPr>
            </a:pPr>
            <a:r>
              <a:t>Tarjetas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26479" y="33101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Cada reporte se muestra como tarjeta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840480"/>
            <a:ext cx="54864" cy="347472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54880" y="381304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D07F"/>
                </a:solidFill>
              </a:defRPr>
            </a:pPr>
            <a:r>
              <a:t>Borde de color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79" y="38130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Indica el estado del reporte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0" y="4343400"/>
            <a:ext cx="54864" cy="347472"/>
          </a:xfrm>
          <a:prstGeom prst="rect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54880" y="431596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7AFF"/>
                </a:solidFill>
              </a:defRPr>
            </a:pPr>
            <a:r>
              <a:t>Badges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26479" y="43159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Estado y prioridad como etiquetas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0" y="4846320"/>
            <a:ext cx="54864" cy="347472"/>
          </a:xfrm>
          <a:prstGeom prst="rect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54880" y="481888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5B8"/>
                </a:solidFill>
              </a:defRPr>
            </a:pPr>
            <a:r>
              <a:t>Fecha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26479" y="48188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Dia de creacion del reporte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21040" y="777240"/>
            <a:ext cx="3383280" cy="539496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03919" y="868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7DFF"/>
                </a:solidFill>
              </a:defRPr>
            </a:pPr>
            <a:r>
              <a:t>Leyenda de colores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503919" y="1298448"/>
            <a:ext cx="777240" cy="201168"/>
          </a:xfrm>
          <a:prstGeom prst="roundRect">
            <a:avLst/>
          </a:prstGeom>
          <a:solidFill>
            <a:srgbClr val="3A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03919" y="1316736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Abierto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72600" y="1298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Reporte nuevo sin atender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503919" y="1828800"/>
            <a:ext cx="777240" cy="201168"/>
          </a:xfrm>
          <a:prstGeom prst="roundRect">
            <a:avLst/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03919" y="1847088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En proceso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7260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Siendo atendido por tecnico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503919" y="2359151"/>
            <a:ext cx="777240" cy="201168"/>
          </a:xfrm>
          <a:prstGeom prst="roundRect">
            <a:avLst/>
          </a:prstGeom>
          <a:solidFill>
            <a:srgbClr val="3A2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03919" y="2377439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200"/>
                </a:solidFill>
              </a:defRPr>
            </a:pPr>
            <a:r>
              <a:t>Espera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72600" y="235915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Espera repuesto o cliente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503919" y="2889503"/>
            <a:ext cx="777240" cy="201168"/>
          </a:xfrm>
          <a:prstGeom prst="roundRect">
            <a:avLst/>
          </a:prstGeom>
          <a:solidFill>
            <a:srgbClr val="0F2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03919" y="2907791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Resuelto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72600" y="2889503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Problema solucionado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503919" y="3419856"/>
            <a:ext cx="777240" cy="201168"/>
          </a:xfrm>
          <a:prstGeom prst="round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503919" y="343814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Urgente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72600" y="341985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Accion inmediata requerida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503919" y="3950207"/>
            <a:ext cx="777240" cy="20116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503919" y="3968495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Alta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72600" y="395020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Alta prioridad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503919" y="4480559"/>
            <a:ext cx="777240" cy="201168"/>
          </a:xfrm>
          <a:prstGeom prst="round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03919" y="4498847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Normal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72600" y="44805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Prioridad estandar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503919" y="5010911"/>
            <a:ext cx="777240" cy="201168"/>
          </a:xfrm>
          <a:prstGeom prst="roundRect">
            <a:avLst/>
          </a:prstGeom>
          <a:solidFill>
            <a:srgbClr val="565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03919" y="5029199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Baja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72600" y="501091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Mantenimiento preventivo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Filtrar y Buscar Reportes</a:t>
            </a:r>
          </a:p>
          <a:p>
            <a:pPr>
              <a:spcBef>
                <a:spcPts val="400"/>
              </a:spcBef>
              <a:defRPr sz="1400">
                <a:solidFill>
                  <a:srgbClr val="8B95B8"/>
                </a:solidFill>
              </a:defRPr>
            </a:pPr>
            <a:r>
              <a:t>Encuentra rapidamente el reporte que necesitas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667512"/>
            <a:ext cx="3657600" cy="6217920"/>
          </a:xfrm>
          <a:prstGeom prst="round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640080"/>
            <a:ext cx="3657600" cy="6217920"/>
          </a:xfrm>
          <a:prstGeom prst="roundRect">
            <a:avLst/>
          </a:prstGeom>
          <a:solidFill>
            <a:srgbClr val="0F1526"/>
          </a:solidFill>
          <a:ln w="635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" y="704088"/>
            <a:ext cx="3529584" cy="6089904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1640" y="649224"/>
            <a:ext cx="822960" cy="36576"/>
          </a:xfrm>
          <a:prstGeom prst="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" y="704088"/>
            <a:ext cx="3529584" cy="384048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786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777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NexAlert</a:t>
            </a:r>
          </a:p>
        </p:txBody>
      </p:sp>
      <p:sp>
        <p:nvSpPr>
          <p:cNvPr id="13" name="Oval 12"/>
          <p:cNvSpPr/>
          <p:nvPr/>
        </p:nvSpPr>
        <p:spPr>
          <a:xfrm>
            <a:off x="3227831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1" y="77724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5" y="77724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5B8"/>
                </a:solidFill>
              </a:defRPr>
            </a:pPr>
            <a: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1179576"/>
            <a:ext cx="3255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F2FF"/>
                </a:solidFill>
              </a:defRPr>
            </a:pPr>
            <a:r>
              <a:t>Mis reportes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" y="1499616"/>
            <a:ext cx="3310128" cy="292608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" y="1527048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EF2FF"/>
                </a:solidFill>
              </a:defRPr>
            </a:pPr>
            <a:r>
              <a:t>Compresor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" y="1865376"/>
            <a:ext cx="1234440" cy="256032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1883664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5C6C"/>
                </a:solidFill>
              </a:defRPr>
            </a:pPr>
            <a:r>
              <a:t>Abierto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" y="2139696"/>
            <a:ext cx="1234440" cy="1325880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" y="21854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Todos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" y="24231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5C6C"/>
                </a:solidFill>
              </a:defRPr>
            </a:pPr>
            <a:r>
              <a:t>Abierto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" y="266090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F7DFF"/>
                </a:solidFill>
              </a:defRPr>
            </a:pPr>
            <a:r>
              <a:t>En proceso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" y="28986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B454"/>
                </a:solidFill>
              </a:defRPr>
            </a:pPr>
            <a:r>
              <a:t>En espera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31363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FD07F"/>
                </a:solidFill>
              </a:defRPr>
            </a:pPr>
            <a:r>
              <a:t>Resuelto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55648" y="1865376"/>
            <a:ext cx="2002536" cy="256032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1883664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Prioridad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" y="3557016"/>
            <a:ext cx="1143000" cy="219456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3575304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B8"/>
                </a:solidFill>
              </a:defRPr>
            </a:pPr>
            <a:r>
              <a:t>Desde: 01/08/2026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64207" y="3557016"/>
            <a:ext cx="2093976" cy="219456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0" y="3575304"/>
            <a:ext cx="19751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B8"/>
                </a:solidFill>
              </a:defRPr>
            </a:pPr>
            <a:r>
              <a:t>Hasta: 20/08/2026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" y="3904487"/>
            <a:ext cx="3310128" cy="822960"/>
          </a:xfrm>
          <a:prstGeom prst="roundRect">
            <a:avLst/>
          </a:prstGeom>
          <a:solidFill>
            <a:srgbClr val="111830"/>
          </a:solidFill>
          <a:ln w="381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056" y="3904487"/>
            <a:ext cx="27432" cy="822960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3959351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EF2FF"/>
                </a:solidFill>
              </a:defRPr>
            </a:pPr>
            <a:r>
              <a:t>Minera del Sur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18103" y="3959351"/>
            <a:ext cx="649224" cy="182880"/>
          </a:xfrm>
          <a:prstGeom prst="roundRect">
            <a:avLst/>
          </a:prstGeom>
          <a:solidFill>
            <a:srgbClr val="3A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18103" y="3968495"/>
            <a:ext cx="6492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Abierto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" y="4160520"/>
            <a:ext cx="312724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Compresor Atlas Copco XAS 185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" y="4325112"/>
            <a:ext cx="3127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4DBF2"/>
                </a:solidFill>
              </a:defRPr>
            </a:pPr>
            <a:r>
              <a:t>Fuga de aceite en el compresor principal, requiere revision urgente del sello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" y="454456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FD07F"/>
                </a:solidFill>
              </a:defRPr>
            </a:pPr>
            <a:r>
              <a:t>1 resultado encontrado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777240"/>
            <a:ext cx="3657600" cy="539496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7DFF"/>
                </a:solidFill>
              </a:defRPr>
            </a:pPr>
            <a:r>
              <a:t>Como filtrar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1325880"/>
            <a:ext cx="54864" cy="640080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9844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7DFF"/>
                </a:solidFill>
              </a:defRPr>
            </a:pPr>
            <a:r>
              <a:t>Busqueda por texto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Escribe en el campo de busqueda. Busca por nombre de cliente, nombre del equipo o descripcion del problema. Se filtra en tiempo real.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2103120"/>
            <a:ext cx="54864" cy="64008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207568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D07F"/>
                </a:solidFill>
              </a:defRPr>
            </a:pPr>
            <a:r>
              <a:t>Filtro por estado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Selecciona un estado del dropdown: Todos, Abierto, En proceso, En espera, o Resuelto.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880359"/>
            <a:ext cx="54864" cy="640080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0" y="2852927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C6C"/>
                </a:solidFill>
              </a:defRPr>
            </a:pPr>
            <a:r>
              <a:t>Filtro por prioridad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30632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Filtra por nivel de urgencia: Urgente, Alta, Normal o Baja.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3657599"/>
            <a:ext cx="54864" cy="64008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0" y="363016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454"/>
                </a:solidFill>
              </a:defRPr>
            </a:pPr>
            <a:r>
              <a:t>Filtros de fecha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38404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Selecciona un rango Desde/Hasta para ver reportes de un periodo especifico.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0" y="4434840"/>
            <a:ext cx="54864" cy="640080"/>
          </a:xfrm>
          <a:prstGeom prst="rect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0" y="4407407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7AFF"/>
                </a:solidFill>
              </a:defRPr>
            </a:pPr>
            <a:r>
              <a:t>Combinar filtros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0" y="4617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Puedes usar varios filtros al mismo tiempo.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5212080"/>
            <a:ext cx="54864" cy="640080"/>
          </a:xfrm>
          <a:prstGeom prst="rect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0" y="518464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95B8"/>
                </a:solidFill>
              </a:defRPr>
            </a:pPr>
            <a:r>
              <a:t>Limpiar filtros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5394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Selecciona 'Todos' en cada dropdown para quitar los filtros.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Crear un Nuevo Reporte</a:t>
            </a:r>
          </a:p>
          <a:p>
            <a:pPr>
              <a:spcBef>
                <a:spcPts val="400"/>
              </a:spcBef>
              <a:defRPr sz="1400">
                <a:solidFill>
                  <a:srgbClr val="8B95B8"/>
                </a:solidFill>
              </a:defRPr>
            </a:pPr>
            <a:r>
              <a:t>Toca el boton + y completa el formulario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667512"/>
            <a:ext cx="3657600" cy="6217920"/>
          </a:xfrm>
          <a:prstGeom prst="round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640080"/>
            <a:ext cx="3657600" cy="6217920"/>
          </a:xfrm>
          <a:prstGeom prst="roundRect">
            <a:avLst/>
          </a:prstGeom>
          <a:solidFill>
            <a:srgbClr val="0F1526"/>
          </a:solidFill>
          <a:ln w="635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" y="704088"/>
            <a:ext cx="3529584" cy="6089904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1640" y="649224"/>
            <a:ext cx="822960" cy="36576"/>
          </a:xfrm>
          <a:prstGeom prst="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" y="704088"/>
            <a:ext cx="3529584" cy="384048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786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777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NexAlert</a:t>
            </a:r>
          </a:p>
        </p:txBody>
      </p:sp>
      <p:sp>
        <p:nvSpPr>
          <p:cNvPr id="13" name="Oval 12"/>
          <p:cNvSpPr/>
          <p:nvPr/>
        </p:nvSpPr>
        <p:spPr>
          <a:xfrm>
            <a:off x="3227831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1" y="77724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5" y="77724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5B8"/>
                </a:solidFill>
              </a:defRPr>
            </a:pPr>
            <a: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117957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F7DFF"/>
                </a:solidFill>
              </a:defRPr>
            </a:pPr>
            <a:r>
              <a:t>&lt; Volver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" y="1453895"/>
            <a:ext cx="3310128" cy="5029200"/>
          </a:xfrm>
          <a:prstGeom prst="roundRect">
            <a:avLst/>
          </a:prstGeom>
          <a:solidFill>
            <a:srgbClr val="111830"/>
          </a:solidFill>
          <a:ln w="381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1545336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EF2FF"/>
                </a:solidFill>
              </a:defRPr>
            </a:pPr>
            <a:r>
              <a:t>Nuevo reporte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" y="1847088"/>
            <a:ext cx="3090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Cliente *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" y="2011680"/>
            <a:ext cx="3090672" cy="457200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048256"/>
            <a:ext cx="29077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BF2"/>
                </a:solidFill>
              </a:defRPr>
            </a:pPr>
            <a:r>
              <a:t>Minera del Sur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" y="2670048"/>
            <a:ext cx="3090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Equipo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" y="2834640"/>
            <a:ext cx="3090672" cy="457200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2871216"/>
            <a:ext cx="29077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BF2"/>
                </a:solidFill>
              </a:defRPr>
            </a:pPr>
            <a:r>
              <a:t>Compresor Atlas Copco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" y="3493008"/>
            <a:ext cx="3090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Descripcion *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" y="3657600"/>
            <a:ext cx="3090672" cy="457200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3694176"/>
            <a:ext cx="29077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BF2"/>
                </a:solidFill>
              </a:defRPr>
            </a:pPr>
            <a:r>
              <a:t>Fuga de aceite en el</a:t>
            </a:r>
            <a:br/>
            <a:r>
              <a:t>compresor principal...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" y="4343400"/>
            <a:ext cx="3090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Prioridad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" y="4526279"/>
            <a:ext cx="3090672" cy="320040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4553712"/>
            <a:ext cx="2907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7DFF"/>
                </a:solidFill>
              </a:defRPr>
            </a:pPr>
            <a:r>
              <a:t>Normal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" y="5001768"/>
            <a:ext cx="3090672" cy="347472"/>
          </a:xfrm>
          <a:prstGeom prst="round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" y="5020056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Guardar reporte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" y="5458968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FD07F"/>
                </a:solidFill>
              </a:defRPr>
            </a:pPr>
            <a:r>
              <a:t>GPS capturado automaticamente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777240"/>
            <a:ext cx="3657600" cy="256032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7DFF"/>
                </a:solidFill>
              </a:defRPr>
            </a:pPr>
            <a:r>
              <a:t>Pasos para crear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0" y="1307592"/>
            <a:ext cx="274320" cy="274320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13258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59" y="1280160"/>
            <a:ext cx="2926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1. Toca el boton 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59" y="1444751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Se abre el formulario nuevo reporte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0" y="1709928"/>
            <a:ext cx="274320" cy="274320"/>
          </a:xfrm>
          <a:prstGeom prst="ellipse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172821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59" y="1682495"/>
            <a:ext cx="2926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2. Escribe el cliente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59" y="184708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Nombre de la empresa que reporta</a:t>
            </a:r>
          </a:p>
        </p:txBody>
      </p:sp>
      <p:sp>
        <p:nvSpPr>
          <p:cNvPr id="44" name="Oval 43"/>
          <p:cNvSpPr/>
          <p:nvPr/>
        </p:nvSpPr>
        <p:spPr>
          <a:xfrm>
            <a:off x="4572000" y="2112263"/>
            <a:ext cx="274320" cy="274320"/>
          </a:xfrm>
          <a:prstGeom prst="ellipse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2130551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59" y="2084831"/>
            <a:ext cx="2926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3. Describe el problema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59" y="224942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Se claro y especifico sobre la falla</a:t>
            </a:r>
          </a:p>
        </p:txBody>
      </p:sp>
      <p:sp>
        <p:nvSpPr>
          <p:cNvPr id="48" name="Oval 47"/>
          <p:cNvSpPr/>
          <p:nvPr/>
        </p:nvSpPr>
        <p:spPr>
          <a:xfrm>
            <a:off x="4572000" y="2514599"/>
            <a:ext cx="274320" cy="27432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0" y="2532887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59" y="2487168"/>
            <a:ext cx="2926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4. Selecciona prioridad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59" y="26517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Normal por defecto, cambia si es urgente</a:t>
            </a:r>
          </a:p>
        </p:txBody>
      </p:sp>
      <p:sp>
        <p:nvSpPr>
          <p:cNvPr id="52" name="Oval 51"/>
          <p:cNvSpPr/>
          <p:nvPr/>
        </p:nvSpPr>
        <p:spPr>
          <a:xfrm>
            <a:off x="4572000" y="2916936"/>
            <a:ext cx="274320" cy="274320"/>
          </a:xfrm>
          <a:prstGeom prst="ellipse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0" y="293522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59" y="2889504"/>
            <a:ext cx="2926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5. Toca Guardar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59" y="305409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El reporte se envia al servidor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89120" y="3520440"/>
            <a:ext cx="3657600" cy="256032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0" y="3611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C6C"/>
                </a:solidFill>
              </a:defRPr>
            </a:pPr>
            <a:r>
              <a:t>Campos obligatorios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40233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C6C"/>
                </a:solidFill>
              </a:defRPr>
            </a:pPr>
            <a:r>
              <a:t>Cliente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42793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Nombre de la empresa. Escribe y el sistema autocompleta.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48463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C6C"/>
                </a:solidFill>
              </a:defRPr>
            </a:pPr>
            <a:r>
              <a:t>Descripcion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51023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Detalla el problema lo mas claro posible.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21040" y="777240"/>
            <a:ext cx="3383280" cy="539496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19" y="868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D07F"/>
                </a:solidFill>
              </a:defRPr>
            </a:pPr>
            <a:r>
              <a:t>Consejos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03919" y="1325880"/>
            <a:ext cx="54864" cy="73152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0" y="12984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D07F"/>
                </a:solidFill>
              </a:defRPr>
            </a:pPr>
            <a:r>
              <a:t>GPS automatico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15361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La ubicacion se captura solo. No necesitas hacer nada.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03919" y="2194559"/>
            <a:ext cx="54864" cy="731520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0" y="216712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7DFF"/>
                </a:solidFill>
              </a:defRPr>
            </a:pPr>
            <a:r>
              <a:t>Descripcion clara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24048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Incluye marca, modelo y sintomas exactos.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03919" y="3063239"/>
            <a:ext cx="54864" cy="731520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86800" y="30358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C6C"/>
                </a:solidFill>
              </a:defRPr>
            </a:pPr>
            <a:r>
              <a:t>Prioridad real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0" y="32735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Solo marca urgente si hay parada total.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03919" y="3931920"/>
            <a:ext cx="54864" cy="731520"/>
          </a:xfrm>
          <a:prstGeom prst="rect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86800" y="390448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5B8"/>
                </a:solidFill>
              </a:defRPr>
            </a:pPr>
            <a:r>
              <a:t>Sin fotos aun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0" y="41422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Puedes agregar fotos despues desde el detalle.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03919" y="4800599"/>
            <a:ext cx="54864" cy="731520"/>
          </a:xfrm>
          <a:prstGeom prst="rect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86800" y="477316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7AFF"/>
                </a:solidFill>
              </a:defRPr>
            </a:pPr>
            <a:r>
              <a:t>Modo offline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800" y="50109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Si no tienes internet, se guarda local y se envia despues.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Detalle del Reporte</a:t>
            </a:r>
          </a:p>
          <a:p>
            <a:pPr>
              <a:spcBef>
                <a:spcPts val="400"/>
              </a:spcBef>
              <a:defRPr sz="1400">
                <a:solidFill>
                  <a:srgbClr val="8B95B8"/>
                </a:solidFill>
              </a:defRPr>
            </a:pPr>
            <a:r>
              <a:t>Toca una tarjeta para ver toda la informacion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667512"/>
            <a:ext cx="3657600" cy="6217920"/>
          </a:xfrm>
          <a:prstGeom prst="round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640080"/>
            <a:ext cx="3657600" cy="6217920"/>
          </a:xfrm>
          <a:prstGeom prst="roundRect">
            <a:avLst/>
          </a:prstGeom>
          <a:solidFill>
            <a:srgbClr val="0F1526"/>
          </a:solidFill>
          <a:ln w="635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" y="704088"/>
            <a:ext cx="3529584" cy="6089904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1640" y="649224"/>
            <a:ext cx="822960" cy="36576"/>
          </a:xfrm>
          <a:prstGeom prst="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" y="704088"/>
            <a:ext cx="3529584" cy="384048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786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777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NexAlert</a:t>
            </a:r>
          </a:p>
        </p:txBody>
      </p:sp>
      <p:sp>
        <p:nvSpPr>
          <p:cNvPr id="13" name="Oval 12"/>
          <p:cNvSpPr/>
          <p:nvPr/>
        </p:nvSpPr>
        <p:spPr>
          <a:xfrm>
            <a:off x="3227831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1" y="77724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5" y="77724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5B8"/>
                </a:solidFill>
              </a:defRPr>
            </a:pPr>
            <a: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117957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F7DFF"/>
                </a:solidFill>
              </a:defRPr>
            </a:pPr>
            <a:r>
              <a:t>&lt; Volver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" y="1453895"/>
            <a:ext cx="3310128" cy="1188720"/>
          </a:xfrm>
          <a:prstGeom prst="roundRect">
            <a:avLst/>
          </a:prstGeom>
          <a:solidFill>
            <a:srgbClr val="111830"/>
          </a:solidFill>
          <a:ln w="381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15270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EF2FF"/>
                </a:solidFill>
              </a:defRPr>
            </a:pPr>
            <a:r>
              <a:t>Minera del Sur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90671" y="1527048"/>
            <a:ext cx="649224" cy="182880"/>
          </a:xfrm>
          <a:prstGeom prst="roundRect">
            <a:avLst/>
          </a:prstGeom>
          <a:solidFill>
            <a:srgbClr val="3A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1" y="1536192"/>
            <a:ext cx="6492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Abierto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" y="1764792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Compresor Atlas Copco XAS 185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" y="1947672"/>
            <a:ext cx="649224" cy="182880"/>
          </a:xfrm>
          <a:prstGeom prst="round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956815"/>
            <a:ext cx="6492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Urgente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" y="1947672"/>
            <a:ext cx="548640" cy="182880"/>
          </a:xfrm>
          <a:prstGeom prst="roundRect">
            <a:avLst/>
          </a:prstGeom>
          <a:solidFill>
            <a:srgbClr val="0F2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" y="1956815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GPS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" y="2185416"/>
            <a:ext cx="3090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8B95B8"/>
                </a:solidFill>
              </a:defRPr>
            </a:pPr>
            <a:r>
              <a:t>PROBLEMA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" y="2331720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4DBF2"/>
                </a:solidFill>
              </a:defRPr>
            </a:pPr>
            <a:r>
              <a:t>Fuga de aceite en compresor principal, sello danado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" y="2715768"/>
            <a:ext cx="1005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8B95B8"/>
                </a:solidFill>
              </a:defRPr>
            </a:pPr>
            <a:r>
              <a:t>ESTADO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2715768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F7DFF"/>
                </a:solidFill>
              </a:defRPr>
            </a:pPr>
            <a:r>
              <a:t>En proceso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" y="2971800"/>
            <a:ext cx="1005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8B95B8"/>
                </a:solidFill>
              </a:defRPr>
            </a:pPr>
            <a:r>
              <a:t>PRIORIDAD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2768" y="2971800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5C6C"/>
                </a:solidFill>
              </a:defRPr>
            </a:pPr>
            <a:r>
              <a:t>Urgente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3227832"/>
            <a:ext cx="1005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8B95B8"/>
                </a:solidFill>
              </a:defRPr>
            </a:pPr>
            <a:r>
              <a:t>TECNICO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2768" y="3227832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Carlos Rodriguez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" y="3483864"/>
            <a:ext cx="1005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8B95B8"/>
                </a:solidFill>
              </a:defRPr>
            </a:pPr>
            <a:r>
              <a:t>CREADO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3483864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15/08/2026 09:30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3767328"/>
            <a:ext cx="325526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8B95B8"/>
                </a:solidFill>
              </a:defRPr>
            </a:pPr>
            <a:r>
              <a:t>Cambiar estado: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6" y="3922776"/>
            <a:ext cx="643737" cy="237744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" y="3941064"/>
            <a:ext cx="64373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B95B8"/>
                </a:solidFill>
              </a:defRPr>
            </a:pPr>
            <a:r>
              <a:t>Abierto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10081" y="3922776"/>
            <a:ext cx="643737" cy="237744"/>
          </a:xfrm>
          <a:prstGeom prst="round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0081" y="3941064"/>
            <a:ext cx="64373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En pro.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72107" y="3922776"/>
            <a:ext cx="643737" cy="237744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72107" y="3941064"/>
            <a:ext cx="64373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B95B8"/>
                </a:solidFill>
              </a:defRPr>
            </a:pPr>
            <a:r>
              <a:t>Resuelto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34132" y="3922776"/>
            <a:ext cx="643737" cy="237744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34132" y="3941064"/>
            <a:ext cx="64373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B95B8"/>
                </a:solidFill>
              </a:defRPr>
            </a:pPr>
            <a:r>
              <a:t>Repuesto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96158" y="3922776"/>
            <a:ext cx="643737" cy="237744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96158" y="3941064"/>
            <a:ext cx="64373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B95B8"/>
                </a:solidFill>
              </a:defRPr>
            </a:pPr>
            <a:r>
              <a:t>Cliente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4251960"/>
            <a:ext cx="325526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8B95B8"/>
                </a:solidFill>
              </a:defRPr>
            </a:pPr>
            <a:r>
              <a:t>FOTOGRAFIAS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8056" y="4416552"/>
            <a:ext cx="1066800" cy="502920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551432" y="4416552"/>
            <a:ext cx="1066800" cy="502920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654808" y="4416552"/>
            <a:ext cx="1066800" cy="502920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" y="5001768"/>
            <a:ext cx="1636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Tomar foto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21408" y="5001768"/>
            <a:ext cx="1636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EF2FF"/>
                </a:solidFill>
              </a:defRPr>
            </a:pPr>
            <a:r>
              <a:t>Galeria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" y="5349240"/>
            <a:ext cx="325526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8B95B8"/>
                </a:solidFill>
              </a:defRPr>
            </a:pPr>
            <a:r>
              <a:t>FIRMA DIGITAL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8056" y="5513831"/>
            <a:ext cx="3310128" cy="457200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8056" y="5641848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B95B8"/>
                </a:solidFill>
              </a:defRPr>
            </a:pPr>
            <a:r>
              <a:t>Dibuja tu firma aqui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" y="6062472"/>
            <a:ext cx="325526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8B95B8"/>
                </a:solidFill>
              </a:defRPr>
            </a:pPr>
            <a:r>
              <a:t>NOTAS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8056" y="6227064"/>
            <a:ext cx="3310128" cy="365760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9496" y="6263640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4DBF2"/>
                </a:solidFill>
              </a:defRPr>
            </a:pPr>
            <a:r>
              <a:t>Sello danado, requiere repuesto...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89120" y="777240"/>
            <a:ext cx="3657600" cy="539496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7DFF"/>
                </a:solidFill>
              </a:defRPr>
            </a:pPr>
            <a:r>
              <a:t>Secciones del detalle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1325880"/>
            <a:ext cx="54864" cy="365760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80" y="12984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7DFF"/>
                </a:solidFill>
              </a:defRPr>
            </a:pPr>
            <a:r>
              <a:t>Cabecera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12984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Cliente, equipo, badges de estado y prioridad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1828800"/>
            <a:ext cx="54864" cy="365760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54880" y="18013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C6C"/>
                </a:solidFill>
              </a:defRPr>
            </a:pPr>
            <a:r>
              <a:t>Problema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1801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Descripcion detallada del fallo reportado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0" y="2331720"/>
            <a:ext cx="54864" cy="36576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0" y="230428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454"/>
                </a:solidFill>
              </a:defRPr>
            </a:pPr>
            <a:r>
              <a:t>Estado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0" y="23042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Tu estado actual y botones para cambiarlo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0" y="2834639"/>
            <a:ext cx="54864" cy="36576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0" y="280720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D07F"/>
                </a:solidFill>
              </a:defRPr>
            </a:pPr>
            <a:r>
              <a:t>Ubicacion GPS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28072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Coordenadas del lugar del fallo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337560"/>
            <a:ext cx="54864" cy="365760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54880" y="331012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7DFF"/>
                </a:solidFill>
              </a:defRPr>
            </a:pPr>
            <a:r>
              <a:t>Fotografias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33101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Fotos tomadas en campo (camara o galeria)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0" y="3840480"/>
            <a:ext cx="54864" cy="365760"/>
          </a:xfrm>
          <a:prstGeom prst="rect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54880" y="38130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7AFF"/>
                </a:solidFill>
              </a:defRPr>
            </a:pPr>
            <a:r>
              <a:t>Firma digital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7920" y="38130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Firma del cliente o confirmacion de entrega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0" y="4343400"/>
            <a:ext cx="54864" cy="365760"/>
          </a:xfrm>
          <a:prstGeom prst="rect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54880" y="43159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5B8"/>
                </a:solidFill>
              </a:defRPr>
            </a:pPr>
            <a:r>
              <a:t>Notas internas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0" y="43159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Comentarios privados sobre el reporte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0" y="4846320"/>
            <a:ext cx="54864" cy="36576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54880" y="481888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D07F"/>
                </a:solidFill>
              </a:defRPr>
            </a:pPr>
            <a:r>
              <a:t>Compartir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17920" y="48188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Enviar resumen por WhatsApp o email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Cambiar Estado del Reporte</a:t>
            </a:r>
          </a:p>
          <a:p>
            <a:pPr>
              <a:spcBef>
                <a:spcPts val="400"/>
              </a:spcBef>
              <a:defRPr sz="1400">
                <a:solidFill>
                  <a:srgbClr val="8B95B8"/>
                </a:solidFill>
              </a:defRPr>
            </a:pPr>
            <a:r>
              <a:t>Actualiza el estado a medida que avanzas en la reparacion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47120" cy="164592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7DFF"/>
                </a:solidFill>
              </a:defRPr>
            </a:pPr>
            <a:r>
              <a:t>Flujo de estados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2560320" cy="960120"/>
          </a:xfrm>
          <a:prstGeom prst="roundRect">
            <a:avLst/>
          </a:prstGeom>
          <a:solidFill>
            <a:srgbClr val="1B2440"/>
          </a:solidFill>
          <a:ln w="19050">
            <a:solidFill>
              <a:srgbClr val="FF5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C6C"/>
                </a:solidFill>
              </a:defRPr>
            </a:pPr>
            <a:r>
              <a:t>abierto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642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B8"/>
                </a:solidFill>
              </a:defRPr>
            </a:pPr>
            <a:r>
              <a:t>Reporte nuevo,</a:t>
            </a:r>
            <a:br/>
            <a:r>
              <a:t>esperando atencion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11880" y="1645920"/>
            <a:ext cx="1005840" cy="201168"/>
          </a:xfrm>
          <a:prstGeom prst="rightArrow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1325880"/>
            <a:ext cx="2560320" cy="960120"/>
          </a:xfrm>
          <a:prstGeom prst="roundRect">
            <a:avLst/>
          </a:prstGeom>
          <a:solidFill>
            <a:srgbClr val="1B2440"/>
          </a:solidFill>
          <a:ln w="19050">
            <a:solidFill>
              <a:srgbClr val="4F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3716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7DFF"/>
                </a:solidFill>
              </a:defRPr>
            </a:pPr>
            <a:r>
              <a:t>en_proceso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642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B8"/>
                </a:solidFill>
              </a:defRPr>
            </a:pPr>
            <a:r>
              <a:t>Trabajando</a:t>
            </a:r>
            <a:br/>
            <a:r>
              <a:t>en la falla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452360" y="1645920"/>
            <a:ext cx="1005840" cy="201168"/>
          </a:xfrm>
          <a:prstGeom prst="rightArrow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0" y="1325880"/>
            <a:ext cx="2560320" cy="960120"/>
          </a:xfrm>
          <a:prstGeom prst="roundRect">
            <a:avLst/>
          </a:prstGeom>
          <a:solidFill>
            <a:srgbClr val="1B2440"/>
          </a:solidFill>
          <a:ln w="19050">
            <a:solidFill>
              <a:srgbClr val="2FD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3716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D07F"/>
                </a:solidFill>
              </a:defRPr>
            </a:pPr>
            <a:r>
              <a:t>resuelto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6642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B8"/>
                </a:solidFill>
              </a:defRPr>
            </a:pPr>
            <a:r>
              <a:t>Problema</a:t>
            </a:r>
            <a:br/>
            <a:r>
              <a:t>solucionado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43200"/>
            <a:ext cx="5577840" cy="347472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346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454"/>
                </a:solidFill>
              </a:defRPr>
            </a:pPr>
            <a:r>
              <a:t>Estados de espera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91840"/>
            <a:ext cx="5212080" cy="1005840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291840"/>
            <a:ext cx="54864" cy="100584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3401568"/>
            <a:ext cx="1828800" cy="201168"/>
          </a:xfrm>
          <a:prstGeom prst="round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419856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EF2FF"/>
                </a:solidFill>
              </a:defRPr>
            </a:pPr>
            <a:r>
              <a:t>espera_repuesto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03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B8"/>
                </a:solidFill>
              </a:defRPr>
            </a:pPr>
            <a:r>
              <a:t>Necesitas una pieza para continuar. Describe que repuesto falta en las notas.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480560"/>
            <a:ext cx="5212080" cy="1005840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480560"/>
            <a:ext cx="54864" cy="100584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4590288"/>
            <a:ext cx="1828800" cy="201168"/>
          </a:xfrm>
          <a:prstGeom prst="round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608576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EF2FF"/>
                </a:solidFill>
              </a:defRPr>
            </a:pPr>
            <a:r>
              <a:t>espera_cliente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8920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B8"/>
                </a:solidFill>
              </a:defRPr>
            </a:pPr>
            <a:r>
              <a:t>Requieres informacion adicional del cliente para avanzar.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743200"/>
            <a:ext cx="5486400" cy="347472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834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C6C"/>
                </a:solidFill>
              </a:defRPr>
            </a:pPr>
            <a:r>
              <a:t>Prioridades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291840"/>
            <a:ext cx="5120640" cy="658368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291840"/>
            <a:ext cx="54864" cy="658368"/>
          </a:xfrm>
          <a:prstGeom prst="rect">
            <a:avLst/>
          </a:prstGeom>
          <a:solidFill>
            <a:srgbClr val="565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0" y="3383280"/>
            <a:ext cx="868680" cy="201168"/>
          </a:xfrm>
          <a:prstGeom prst="roundRect">
            <a:avLst/>
          </a:prstGeom>
          <a:solidFill>
            <a:srgbClr val="565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401568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EF2FF"/>
                </a:solidFill>
              </a:defRPr>
            </a:pPr>
            <a:r>
              <a:t>baja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36499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Mantenimiento preventivo. Se agenda para revision periodica.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041648"/>
            <a:ext cx="5120640" cy="658368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4041648"/>
            <a:ext cx="54864" cy="65836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0" y="4133087"/>
            <a:ext cx="868680" cy="201168"/>
          </a:xfrm>
          <a:prstGeom prst="round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151375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normal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41148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Fallo estandar que afecta operacion. Se atiende en horas normales.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791456"/>
            <a:ext cx="5120640" cy="658368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4791456"/>
            <a:ext cx="54864" cy="658368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83680" y="4882896"/>
            <a:ext cx="868680" cy="20116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901183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alta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486460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Fallo critico que requiere atencion rapida. Se prioriza.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5541264"/>
            <a:ext cx="5120640" cy="658368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5541264"/>
            <a:ext cx="54864" cy="658368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83680" y="5632704"/>
            <a:ext cx="868680" cy="201168"/>
          </a:xfrm>
          <a:prstGeom prst="round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5650992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urgente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5614416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Parada total de maquinaria. Atencion inmediata, notifica a todos.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Fotografias del Reporte</a:t>
            </a:r>
          </a:p>
          <a:p>
            <a:pPr>
              <a:spcBef>
                <a:spcPts val="400"/>
              </a:spcBef>
              <a:defRPr sz="1400">
                <a:solidFill>
                  <a:srgbClr val="8B95B8"/>
                </a:solidFill>
              </a:defRPr>
            </a:pPr>
            <a:r>
              <a:t>Documenta visualmente el problema con fotos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667512"/>
            <a:ext cx="3657600" cy="6217920"/>
          </a:xfrm>
          <a:prstGeom prst="round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640080"/>
            <a:ext cx="3657600" cy="6217920"/>
          </a:xfrm>
          <a:prstGeom prst="roundRect">
            <a:avLst/>
          </a:prstGeom>
          <a:solidFill>
            <a:srgbClr val="0F1526"/>
          </a:solidFill>
          <a:ln w="635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" y="704088"/>
            <a:ext cx="3529584" cy="6089904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1640" y="649224"/>
            <a:ext cx="822960" cy="36576"/>
          </a:xfrm>
          <a:prstGeom prst="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" y="704088"/>
            <a:ext cx="3529584" cy="384048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786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777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NexAlert</a:t>
            </a:r>
          </a:p>
        </p:txBody>
      </p:sp>
      <p:sp>
        <p:nvSpPr>
          <p:cNvPr id="13" name="Oval 12"/>
          <p:cNvSpPr/>
          <p:nvPr/>
        </p:nvSpPr>
        <p:spPr>
          <a:xfrm>
            <a:off x="3227831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1" y="77724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5" y="77724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5B8"/>
                </a:solidFill>
              </a:defRPr>
            </a:pPr>
            <a: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117957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F7DFF"/>
                </a:solidFill>
              </a:defRPr>
            </a:pPr>
            <a:r>
              <a:t>&lt; Volver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1453895"/>
            <a:ext cx="3255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5B8"/>
                </a:solidFill>
              </a:defRPr>
            </a:pPr>
            <a:r>
              <a:t>FOTOGRAFIAS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" y="1728216"/>
            <a:ext cx="1066800" cy="804672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2048256"/>
            <a:ext cx="106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B95B8"/>
                </a:solidFill>
              </a:defRPr>
            </a:pPr>
            <a:r>
              <a:t>foto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1432" y="1728216"/>
            <a:ext cx="1066800" cy="804672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1432" y="2048256"/>
            <a:ext cx="106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B95B8"/>
                </a:solidFill>
              </a:defRPr>
            </a:pPr>
            <a:r>
              <a:t>foto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4808" y="1728216"/>
            <a:ext cx="1066800" cy="804672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4808" y="2048256"/>
            <a:ext cx="106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B95B8"/>
                </a:solidFill>
              </a:defRPr>
            </a:pPr>
            <a:r>
              <a:t>foto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" y="2642616"/>
            <a:ext cx="1066800" cy="804672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2962656"/>
            <a:ext cx="106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B95B8"/>
                </a:solidFill>
              </a:defRPr>
            </a:pPr>
            <a:r>
              <a:t>foto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1432" y="2642616"/>
            <a:ext cx="1066800" cy="804672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1432" y="2962656"/>
            <a:ext cx="106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B95B8"/>
                </a:solidFill>
              </a:defRPr>
            </a:pPr>
            <a:r>
              <a:t>foto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4808" y="2642616"/>
            <a:ext cx="1066800" cy="804672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4808" y="2962656"/>
            <a:ext cx="106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B95B8"/>
                </a:solidFill>
              </a:defRPr>
            </a:pPr>
            <a:r>
              <a:t>foto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" y="3611880"/>
            <a:ext cx="1636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Tomar foto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1408" y="3611880"/>
            <a:ext cx="1636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EF2FF"/>
                </a:solidFill>
              </a:defRPr>
            </a:pPr>
            <a:r>
              <a:t>Galeria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777240"/>
            <a:ext cx="3657600" cy="539496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7DFF"/>
                </a:solidFill>
              </a:defRPr>
            </a:pPr>
            <a:r>
              <a:t>Como tomar fotos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1325880"/>
            <a:ext cx="54864" cy="640080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129844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7DFF"/>
                </a:solidFill>
              </a:defRPr>
            </a:pPr>
            <a:r>
              <a:t>Camara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15361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Toca 'Tomar foto' para abrir la camara del dispositivo.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03120"/>
            <a:ext cx="54864" cy="64008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207568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D07F"/>
                </a:solidFill>
              </a:defRPr>
            </a:pPr>
            <a:r>
              <a:t>Galeria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23134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Toca 'Galeria' para seleccionar una foto existente.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2880359"/>
            <a:ext cx="54864" cy="640080"/>
          </a:xfrm>
          <a:prstGeom prst="rect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2852927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7AFF"/>
                </a:solidFill>
              </a:defRPr>
            </a:pPr>
            <a:r>
              <a:t>Multiples fotos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30906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Puedes agregar varias fotos por reporte.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657599"/>
            <a:ext cx="54864" cy="640080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363016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C6C"/>
                </a:solidFill>
              </a:defRPr>
            </a:pPr>
            <a:r>
              <a:t>Eliminar foto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3867911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Toca una foto para verla completa. Usa la basura para eliminarla.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4434840"/>
            <a:ext cx="54864" cy="64008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4407407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454"/>
                </a:solidFill>
              </a:defRPr>
            </a:pPr>
            <a:r>
              <a:t>Consejos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46451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Foto del dano, del equipo completo, del numero de serie.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5212080"/>
            <a:ext cx="54864" cy="640080"/>
          </a:xfrm>
          <a:prstGeom prst="rect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0" y="518464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95B8"/>
                </a:solidFill>
              </a:defRPr>
            </a:pPr>
            <a:r>
              <a:t>Tamano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54223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Las fotos se comprimen automaticamente antes de enviarse.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Firma Digital</a:t>
            </a:r>
          </a:p>
          <a:p>
            <a:pPr>
              <a:spcBef>
                <a:spcPts val="400"/>
              </a:spcBef>
              <a:defRPr sz="1400">
                <a:solidFill>
                  <a:srgbClr val="8B95B8"/>
                </a:solidFill>
              </a:defRPr>
            </a:pPr>
            <a:r>
              <a:t>Registra la confirmacion de entrega con tu firma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667512"/>
            <a:ext cx="3657600" cy="6217920"/>
          </a:xfrm>
          <a:prstGeom prst="round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640080"/>
            <a:ext cx="3657600" cy="6217920"/>
          </a:xfrm>
          <a:prstGeom prst="roundRect">
            <a:avLst/>
          </a:prstGeom>
          <a:solidFill>
            <a:srgbClr val="0F1526"/>
          </a:solidFill>
          <a:ln w="635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" y="704088"/>
            <a:ext cx="3529584" cy="6089904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1640" y="649224"/>
            <a:ext cx="822960" cy="36576"/>
          </a:xfrm>
          <a:prstGeom prst="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" y="704088"/>
            <a:ext cx="3529584" cy="384048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786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777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NexAlert</a:t>
            </a:r>
          </a:p>
        </p:txBody>
      </p:sp>
      <p:sp>
        <p:nvSpPr>
          <p:cNvPr id="13" name="Oval 12"/>
          <p:cNvSpPr/>
          <p:nvPr/>
        </p:nvSpPr>
        <p:spPr>
          <a:xfrm>
            <a:off x="3227831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1" y="77724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5" y="77724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5B8"/>
                </a:solidFill>
              </a:defRPr>
            </a:pPr>
            <a: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117957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F7DFF"/>
                </a:solidFill>
              </a:defRPr>
            </a:pPr>
            <a:r>
              <a:t>&lt; Volver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1453895"/>
            <a:ext cx="3255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5B8"/>
                </a:solidFill>
              </a:defRPr>
            </a:pPr>
            <a:r>
              <a:t>FIRMA DIGITAL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" y="1728216"/>
            <a:ext cx="3310128" cy="2011680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2532888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B8"/>
                </a:solidFill>
              </a:defRPr>
            </a:pPr>
            <a:r>
              <a:t>Dibuja tu firma aqui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" y="3904487"/>
            <a:ext cx="1636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95B8"/>
                </a:solidFill>
              </a:defRPr>
            </a:pPr>
            <a:r>
              <a:t>Limpiar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3904487"/>
            <a:ext cx="1636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Guardar firma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777240"/>
            <a:ext cx="3657600" cy="539496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7DFF"/>
                </a:solidFill>
              </a:defRPr>
            </a:pPr>
            <a:r>
              <a:t>Sobre la firma digital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1325880"/>
            <a:ext cx="54864" cy="640080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129844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7DFF"/>
                </a:solidFill>
              </a:defRPr>
            </a:pPr>
            <a:r>
              <a:t>Cuando usarla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15361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Despues de completar el trabajo, para confirmar con el cliente.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103120"/>
            <a:ext cx="54864" cy="64008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07568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D07F"/>
                </a:solidFill>
              </a:defRPr>
            </a:pPr>
            <a:r>
              <a:t>Quien firma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3134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Puede firmar el tecnico o el cliente.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880359"/>
            <a:ext cx="54864" cy="640080"/>
          </a:xfrm>
          <a:prstGeom prst="rect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2852927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7AFF"/>
                </a:solidFill>
              </a:defRPr>
            </a:pPr>
            <a:r>
              <a:t>Como firmar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0906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Usa tu dedo para dibujar directamente sobre el area.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657599"/>
            <a:ext cx="54864" cy="640080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363016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C6C"/>
                </a:solidFill>
              </a:defRPr>
            </a:pPr>
            <a:r>
              <a:t>Guardar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867911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Toca 'Guardar firma' para registrarla. No se edita despues.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434840"/>
            <a:ext cx="54864" cy="64008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4407407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454"/>
                </a:solidFill>
              </a:defRPr>
            </a:pPr>
            <a:r>
              <a:t>Limpiar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6451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Si te equivocas, toca 'Limpiar' para borrar y volver a firmar.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5212080"/>
            <a:ext cx="54864" cy="64008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518464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D07F"/>
                </a:solidFill>
              </a:defRPr>
            </a:pPr>
            <a:r>
              <a:t>Confirmacion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54223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La firma queda registrada con fecha y hora automatica.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Notas Internas</a:t>
            </a:r>
          </a:p>
          <a:p>
            <a:pPr>
              <a:spcBef>
                <a:spcPts val="400"/>
              </a:spcBef>
              <a:defRPr sz="1400">
                <a:solidFill>
                  <a:srgbClr val="8B95B8"/>
                </a:solidFill>
              </a:defRPr>
            </a:pPr>
            <a:r>
              <a:t>Registra observaciones y comentarios sobre el reporte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667512"/>
            <a:ext cx="3657600" cy="6217920"/>
          </a:xfrm>
          <a:prstGeom prst="round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640080"/>
            <a:ext cx="3657600" cy="6217920"/>
          </a:xfrm>
          <a:prstGeom prst="roundRect">
            <a:avLst/>
          </a:prstGeom>
          <a:solidFill>
            <a:srgbClr val="0F1526"/>
          </a:solidFill>
          <a:ln w="635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" y="704088"/>
            <a:ext cx="3529584" cy="6089904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1640" y="649224"/>
            <a:ext cx="822960" cy="36576"/>
          </a:xfrm>
          <a:prstGeom prst="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" y="704088"/>
            <a:ext cx="3529584" cy="384048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786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777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NexAlert</a:t>
            </a:r>
          </a:p>
        </p:txBody>
      </p:sp>
      <p:sp>
        <p:nvSpPr>
          <p:cNvPr id="13" name="Oval 12"/>
          <p:cNvSpPr/>
          <p:nvPr/>
        </p:nvSpPr>
        <p:spPr>
          <a:xfrm>
            <a:off x="3227831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1" y="77724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5" y="77724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5B8"/>
                </a:solidFill>
              </a:defRPr>
            </a:pPr>
            <a: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117957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F7DFF"/>
                </a:solidFill>
              </a:defRPr>
            </a:pPr>
            <a:r>
              <a:t>&lt; Volver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1453895"/>
            <a:ext cx="3255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5B8"/>
                </a:solidFill>
              </a:defRPr>
            </a:pPr>
            <a:r>
              <a:t>NOTAS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" y="1728216"/>
            <a:ext cx="3310128" cy="594360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1773936"/>
            <a:ext cx="3127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4DBF2"/>
                </a:solidFill>
              </a:defRPr>
            </a:pPr>
            <a:r>
              <a:t>Sello mecanico danado. Necesito repuesto de la marca original.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" y="2075688"/>
            <a:ext cx="31272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B8"/>
                </a:solidFill>
              </a:defRPr>
            </a:pPr>
            <a:r>
              <a:t>Carlos - 15/08 10:45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" y="2414016"/>
            <a:ext cx="3310128" cy="502920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" y="2459736"/>
            <a:ext cx="3127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4DBF2"/>
                </a:solidFill>
              </a:defRPr>
            </a:pPr>
            <a:r>
              <a:t>Cliente confirmo que el repuesto llega manana.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" y="2688336"/>
            <a:ext cx="31272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B8"/>
                </a:solidFill>
              </a:defRPr>
            </a:pPr>
            <a:r>
              <a:t>Carlos - 15/08 14:20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035808"/>
            <a:ext cx="325526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8B95B8"/>
                </a:solidFill>
              </a:defRPr>
            </a:pPr>
            <a:r>
              <a:t>NUEVA NOTA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" y="3191256"/>
            <a:ext cx="3310128" cy="594360"/>
          </a:xfrm>
          <a:prstGeom prst="round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" y="3246120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Escribe tu nota...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" y="3886200"/>
            <a:ext cx="3310128" cy="292608"/>
          </a:xfrm>
          <a:prstGeom prst="round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" y="3904487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Enviar nota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777240"/>
            <a:ext cx="3657600" cy="539496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7DFF"/>
                </a:solidFill>
              </a:defRPr>
            </a:pPr>
            <a:r>
              <a:t>Uso de notas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1325880"/>
            <a:ext cx="54864" cy="731520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129844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7DFF"/>
                </a:solidFill>
              </a:defRPr>
            </a:pPr>
            <a:r>
              <a:t>Que 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15361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Comentarios internos sobre el reporte. Solo el equipo los ve.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194559"/>
            <a:ext cx="54864" cy="73152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2167127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D07F"/>
                </a:solidFill>
              </a:defRPr>
            </a:pPr>
            <a:r>
              <a:t>Para que sirven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24048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Registrar avances, hallazgos y decisiones durante la reparacion.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3063239"/>
            <a:ext cx="54864" cy="731520"/>
          </a:xfrm>
          <a:prstGeom prst="rect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303580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7AFF"/>
                </a:solidFill>
              </a:defRPr>
            </a:pPr>
            <a:r>
              <a:t>Agregar nota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327355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Escribe en el campo de texto y toca 'Enviar nota'.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931920"/>
            <a:ext cx="54864" cy="73152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3904487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454"/>
                </a:solidFill>
              </a:defRPr>
            </a:pPr>
            <a:r>
              <a:t>Historial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1422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Las notas se ordenan cronologicamente y muestran autor y fecha.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4800599"/>
            <a:ext cx="54864" cy="731520"/>
          </a:xfrm>
          <a:prstGeom prst="rect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4773167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95B8"/>
                </a:solidFill>
              </a:defRPr>
            </a:pPr>
            <a:r>
              <a:t>Ejemplos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501091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Repuesto en camino, foto del dano, cambio de prioridad.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Modo Offline</a:t>
            </a:r>
          </a:p>
          <a:p>
            <a:pPr>
              <a:spcBef>
                <a:spcPts val="400"/>
              </a:spcBef>
              <a:defRPr sz="1400">
                <a:solidFill>
                  <a:srgbClr val="8B95B8"/>
                </a:solidFill>
              </a:defRPr>
            </a:pPr>
            <a:r>
              <a:t>Sigue trabajando aunque no tengas conexion a internet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667512"/>
            <a:ext cx="3657600" cy="6217920"/>
          </a:xfrm>
          <a:prstGeom prst="round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640080"/>
            <a:ext cx="3657600" cy="6217920"/>
          </a:xfrm>
          <a:prstGeom prst="roundRect">
            <a:avLst/>
          </a:prstGeom>
          <a:solidFill>
            <a:srgbClr val="0F1526"/>
          </a:solidFill>
          <a:ln w="635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" y="704088"/>
            <a:ext cx="3529584" cy="6089904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1640" y="649224"/>
            <a:ext cx="822960" cy="36576"/>
          </a:xfrm>
          <a:prstGeom prst="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" y="704088"/>
            <a:ext cx="3529584" cy="384048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786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777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NexAlert</a:t>
            </a:r>
          </a:p>
        </p:txBody>
      </p:sp>
      <p:sp>
        <p:nvSpPr>
          <p:cNvPr id="13" name="Oval 12"/>
          <p:cNvSpPr/>
          <p:nvPr/>
        </p:nvSpPr>
        <p:spPr>
          <a:xfrm>
            <a:off x="3227831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1" y="77724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5" y="77724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5B8"/>
                </a:solidFill>
              </a:defRPr>
            </a:pPr>
            <a:r>
              <a:t>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" y="1088136"/>
            <a:ext cx="3529584" cy="219456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1097280"/>
            <a:ext cx="33467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1200"/>
                </a:solidFill>
              </a:defRPr>
            </a:pPr>
            <a:r>
              <a:t>Sin conexion - modo offline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1417320"/>
            <a:ext cx="3255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F2FF"/>
                </a:solidFill>
              </a:defRPr>
            </a:pPr>
            <a:r>
              <a:t>Mis reportes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1636776"/>
            <a:ext cx="32552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B454"/>
                </a:solidFill>
              </a:defRPr>
            </a:pPr>
            <a:r>
              <a:t>Ultima sync: hace 15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" y="1874519"/>
            <a:ext cx="3310128" cy="365760"/>
          </a:xfrm>
          <a:prstGeom prst="roundRect">
            <a:avLst/>
          </a:prstGeom>
          <a:solidFill>
            <a:srgbClr val="3A2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1892808"/>
            <a:ext cx="31272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B454"/>
                </a:solidFill>
              </a:defRPr>
            </a:pPr>
            <a:r>
              <a:t>2 reportes pendientes de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" y="2057400"/>
            <a:ext cx="31272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5B8"/>
                </a:solidFill>
              </a:defRPr>
            </a:pPr>
            <a:r>
              <a:t>Se enviaran cuando haya internet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" y="2395728"/>
            <a:ext cx="3310128" cy="777240"/>
          </a:xfrm>
          <a:prstGeom prst="roundRect">
            <a:avLst/>
          </a:prstGeom>
          <a:solidFill>
            <a:srgbClr val="111830"/>
          </a:solidFill>
          <a:ln w="635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" y="2395728"/>
            <a:ext cx="27432" cy="77724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245059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B454"/>
                </a:solidFill>
              </a:defRPr>
            </a:pPr>
            <a:r>
              <a:t>Local - Pendiente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" y="2651760"/>
            <a:ext cx="31272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EF2FF"/>
                </a:solidFill>
              </a:defRPr>
            </a:pPr>
            <a:r>
              <a:t>Nueva empresa S.A.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" y="2834640"/>
            <a:ext cx="3127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4DBF2"/>
                </a:solidFill>
              </a:defRPr>
            </a:pPr>
            <a:r>
              <a:t>Bomba de agua con ruido anormal en el rodamiento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777240"/>
            <a:ext cx="3657600" cy="283464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454"/>
                </a:solidFill>
              </a:defRPr>
            </a:pPr>
            <a:r>
              <a:t>Flujo offline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0" y="1298448"/>
            <a:ext cx="274320" cy="274320"/>
          </a:xfrm>
          <a:prstGeom prst="ellipse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131673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59" y="1280160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C6C"/>
                </a:solidFill>
              </a:defRPr>
            </a:pPr>
            <a:r>
              <a:t>Sin internet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280160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La app detecta que no hay conexion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1591056"/>
            <a:ext cx="36576" cy="109728"/>
          </a:xfrm>
          <a:prstGeom prst="rect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72000" y="1737360"/>
            <a:ext cx="274320" cy="27432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175564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59" y="1719072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B454"/>
                </a:solidFill>
              </a:defRPr>
            </a:pPr>
            <a:r>
              <a:t>Guarda local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1719072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El reporte se guarda en el dispositivo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90872" y="2029967"/>
            <a:ext cx="36576" cy="109728"/>
          </a:xfrm>
          <a:prstGeom prst="rect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72000" y="2176272"/>
            <a:ext cx="274320" cy="274320"/>
          </a:xfrm>
          <a:prstGeom prst="ellipse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219456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59" y="2157984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07AFF"/>
                </a:solidFill>
              </a:defRPr>
            </a:pPr>
            <a:r>
              <a:t>Cola pendiente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157984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Aparece indicador de pendientes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2468879"/>
            <a:ext cx="36576" cy="109728"/>
          </a:xfrm>
          <a:prstGeom prst="rect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2000" y="2615184"/>
            <a:ext cx="274320" cy="274320"/>
          </a:xfrm>
          <a:prstGeom prst="ellipse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263347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59" y="2596896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FD07F"/>
                </a:solidFill>
              </a:defRPr>
            </a:pPr>
            <a:r>
              <a:t>Internet vuelve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2596896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La app detecta la conexion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90872" y="2907791"/>
            <a:ext cx="36576" cy="109728"/>
          </a:xfrm>
          <a:prstGeom prst="rect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572000" y="3054096"/>
            <a:ext cx="274320" cy="274320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0" y="3072384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59" y="3035808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7DFF"/>
                </a:solidFill>
              </a:defRPr>
            </a:pPr>
            <a:r>
              <a:t>Sync automatica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035808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Todos los pendientes se envian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89120" y="3749039"/>
            <a:ext cx="3657600" cy="237744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D07F"/>
                </a:solidFill>
              </a:defRPr>
            </a:pPr>
            <a:r>
              <a:t>Que funciona offline</a:t>
            </a:r>
          </a:p>
        </p:txBody>
      </p:sp>
      <p:sp>
        <p:nvSpPr>
          <p:cNvPr id="56" name="Oval 55"/>
          <p:cNvSpPr/>
          <p:nvPr/>
        </p:nvSpPr>
        <p:spPr>
          <a:xfrm>
            <a:off x="4572000" y="4233672"/>
            <a:ext cx="128016" cy="128016"/>
          </a:xfrm>
          <a:prstGeom prst="ellipse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00600" y="42062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Crear reportes</a:t>
            </a:r>
          </a:p>
        </p:txBody>
      </p:sp>
      <p:sp>
        <p:nvSpPr>
          <p:cNvPr id="58" name="Oval 57"/>
          <p:cNvSpPr/>
          <p:nvPr/>
        </p:nvSpPr>
        <p:spPr>
          <a:xfrm>
            <a:off x="4572000" y="4526280"/>
            <a:ext cx="128016" cy="128016"/>
          </a:xfrm>
          <a:prstGeom prst="ellipse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00600" y="44988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Ver reportes locales</a:t>
            </a:r>
          </a:p>
        </p:txBody>
      </p:sp>
      <p:sp>
        <p:nvSpPr>
          <p:cNvPr id="60" name="Oval 59"/>
          <p:cNvSpPr/>
          <p:nvPr/>
        </p:nvSpPr>
        <p:spPr>
          <a:xfrm>
            <a:off x="4572000" y="4818888"/>
            <a:ext cx="128016" cy="128016"/>
          </a:xfrm>
          <a:prstGeom prst="ellipse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00600" y="4791455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Tomar fotos</a:t>
            </a:r>
          </a:p>
        </p:txBody>
      </p:sp>
      <p:sp>
        <p:nvSpPr>
          <p:cNvPr id="62" name="Oval 61"/>
          <p:cNvSpPr/>
          <p:nvPr/>
        </p:nvSpPr>
        <p:spPr>
          <a:xfrm>
            <a:off x="4572000" y="5111496"/>
            <a:ext cx="128016" cy="128016"/>
          </a:xfrm>
          <a:prstGeom prst="ellipse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00600" y="50840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Firma digital</a:t>
            </a:r>
          </a:p>
        </p:txBody>
      </p:sp>
      <p:sp>
        <p:nvSpPr>
          <p:cNvPr id="64" name="Oval 63"/>
          <p:cNvSpPr/>
          <p:nvPr/>
        </p:nvSpPr>
        <p:spPr>
          <a:xfrm>
            <a:off x="4572000" y="5404104"/>
            <a:ext cx="128016" cy="128016"/>
          </a:xfrm>
          <a:prstGeom prst="ellipse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00600" y="53766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Filtros de busqueda</a:t>
            </a:r>
          </a:p>
        </p:txBody>
      </p:sp>
      <p:sp>
        <p:nvSpPr>
          <p:cNvPr id="66" name="Oval 65"/>
          <p:cNvSpPr/>
          <p:nvPr/>
        </p:nvSpPr>
        <p:spPr>
          <a:xfrm>
            <a:off x="4572000" y="5696712"/>
            <a:ext cx="128016" cy="128016"/>
          </a:xfrm>
          <a:prstGeom prst="ellipse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00600" y="5669279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Notas internas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21040" y="777240"/>
            <a:ext cx="3383280" cy="539496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03919" y="868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07AFF"/>
                </a:solidFill>
              </a:defRPr>
            </a:pPr>
            <a:r>
              <a:t>Detalles tecnicos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03919" y="1325880"/>
            <a:ext cx="54864" cy="594360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86800" y="12984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7DFF"/>
                </a:solidFill>
              </a:defRPr>
            </a:pPr>
            <a:r>
              <a:t>IndexedDB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0" y="15361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Los datos se guardan en la base de datos del navegador.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03919" y="2075687"/>
            <a:ext cx="54864" cy="59436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86800" y="2048255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D07F"/>
                </a:solidFill>
              </a:defRPr>
            </a:pPr>
            <a:r>
              <a:t>Sync cada 30s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0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La app revisa la conexion cada 30 segundos.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03919" y="2825496"/>
            <a:ext cx="54864" cy="59436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86800" y="27980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454"/>
                </a:solidFill>
              </a:defRPr>
            </a:pPr>
            <a:r>
              <a:t>Fotos comprimidas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800" y="30358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Las imagenes se reducen de tamano antes de enviarse.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03919" y="3575303"/>
            <a:ext cx="54864" cy="594360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86800" y="35478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C6C"/>
                </a:solidFill>
              </a:defRPr>
            </a:pPr>
            <a:r>
              <a:t>Cola persistente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86800" y="3785615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Los datos sobreviven cierre de app o reinicio.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03919" y="4325112"/>
            <a:ext cx="54864" cy="594360"/>
          </a:xfrm>
          <a:prstGeom prst="rect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86800" y="4297679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7AFF"/>
                </a:solidFill>
              </a:defRPr>
            </a:pPr>
            <a:r>
              <a:t>Conflictos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6800" y="45354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Si hay duplicados, el servidor resuelve por timestamp.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03919" y="5074920"/>
            <a:ext cx="54864" cy="594360"/>
          </a:xfrm>
          <a:prstGeom prst="rect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86800" y="50474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5B8"/>
                </a:solidFill>
              </a:defRPr>
            </a:pPr>
            <a:r>
              <a:t>Sin limite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86800" y="5285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No hay limite de reportes offline. Suben cuando haya 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Estadisticas (Dashboard)</a:t>
            </a:r>
          </a:p>
          <a:p>
            <a:pPr>
              <a:spcBef>
                <a:spcPts val="400"/>
              </a:spcBef>
              <a:defRPr sz="1400">
                <a:solidFill>
                  <a:srgbClr val="8B95B8"/>
                </a:solidFill>
              </a:defRPr>
            </a:pPr>
            <a:r>
              <a:t>Resumen de tu actividad y metricas de rendimiento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667512"/>
            <a:ext cx="3657600" cy="6217920"/>
          </a:xfrm>
          <a:prstGeom prst="round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640080"/>
            <a:ext cx="3657600" cy="6217920"/>
          </a:xfrm>
          <a:prstGeom prst="roundRect">
            <a:avLst/>
          </a:prstGeom>
          <a:solidFill>
            <a:srgbClr val="0F1526"/>
          </a:solidFill>
          <a:ln w="635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" y="704088"/>
            <a:ext cx="3529584" cy="6089904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1640" y="649224"/>
            <a:ext cx="822960" cy="36576"/>
          </a:xfrm>
          <a:prstGeom prst="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" y="704088"/>
            <a:ext cx="3529584" cy="384048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786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777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NexAlert</a:t>
            </a:r>
          </a:p>
        </p:txBody>
      </p:sp>
      <p:sp>
        <p:nvSpPr>
          <p:cNvPr id="13" name="Oval 12"/>
          <p:cNvSpPr/>
          <p:nvPr/>
        </p:nvSpPr>
        <p:spPr>
          <a:xfrm>
            <a:off x="3227831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1" y="77724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5" y="77724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5B8"/>
                </a:solidFill>
              </a:defRPr>
            </a:pPr>
            <a: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117957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F7DFF"/>
                </a:solidFill>
              </a:defRPr>
            </a:pPr>
            <a:r>
              <a:t>&lt; Volver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1453895"/>
            <a:ext cx="3255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EF2FF"/>
                </a:solidFill>
              </a:defRPr>
            </a:pPr>
            <a:r>
              <a:t>Estadisticas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" y="1755648"/>
            <a:ext cx="1066800" cy="777240"/>
          </a:xfrm>
          <a:prstGeom prst="roundRect">
            <a:avLst/>
          </a:prstGeom>
          <a:solidFill>
            <a:srgbClr val="111830"/>
          </a:solidFill>
          <a:ln w="6350">
            <a:solidFill>
              <a:srgbClr val="4F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1847088"/>
            <a:ext cx="106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7DFF"/>
                </a:solidFill>
              </a:defRPr>
            </a:pPr>
            <a: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" y="2231136"/>
            <a:ext cx="106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5B8"/>
                </a:solidFill>
              </a:defRPr>
            </a:pPr>
            <a:r>
              <a:t>Total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1432" y="1755648"/>
            <a:ext cx="1066800" cy="777240"/>
          </a:xfrm>
          <a:prstGeom prst="roundRect">
            <a:avLst/>
          </a:prstGeom>
          <a:solidFill>
            <a:srgbClr val="111830"/>
          </a:solidFill>
          <a:ln w="6350">
            <a:solidFill>
              <a:srgbClr val="FF5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1432" y="1847088"/>
            <a:ext cx="106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C6C"/>
                </a:solidFill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1432" y="2231136"/>
            <a:ext cx="106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5B8"/>
                </a:solidFill>
              </a:defRPr>
            </a:pPr>
            <a:r>
              <a:t>Abiertos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4808" y="1755648"/>
            <a:ext cx="1066800" cy="777240"/>
          </a:xfrm>
          <a:prstGeom prst="roundRect">
            <a:avLst/>
          </a:prstGeom>
          <a:solidFill>
            <a:srgbClr val="111830"/>
          </a:solidFill>
          <a:ln w="6350">
            <a:solidFill>
              <a:srgbClr val="7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4808" y="1847088"/>
            <a:ext cx="106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A9D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4808" y="2231136"/>
            <a:ext cx="106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5B8"/>
                </a:solidFill>
              </a:defRPr>
            </a:pPr>
            <a:r>
              <a:t>En pro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" y="2624328"/>
            <a:ext cx="1066800" cy="777240"/>
          </a:xfrm>
          <a:prstGeom prst="roundRect">
            <a:avLst/>
          </a:prstGeom>
          <a:solidFill>
            <a:srgbClr val="111830"/>
          </a:solidFill>
          <a:ln w="6350">
            <a:solidFill>
              <a:srgbClr val="2FD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" y="2715768"/>
            <a:ext cx="106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FD07F"/>
                </a:solidFill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" y="3099816"/>
            <a:ext cx="106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5B8"/>
                </a:solidFill>
              </a:defRPr>
            </a:pPr>
            <a:r>
              <a:t>Resueltos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51432" y="2624328"/>
            <a:ext cx="1066800" cy="777240"/>
          </a:xfrm>
          <a:prstGeom prst="roundRect">
            <a:avLst/>
          </a:prstGeom>
          <a:solidFill>
            <a:srgbClr val="111830"/>
          </a:solidFill>
          <a:ln w="635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1432" y="2715768"/>
            <a:ext cx="106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454"/>
                </a:solidFill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1432" y="3099816"/>
            <a:ext cx="106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5B8"/>
                </a:solidFill>
              </a:defRPr>
            </a:pPr>
            <a:r>
              <a:t>Espera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54808" y="2624328"/>
            <a:ext cx="1066800" cy="777240"/>
          </a:xfrm>
          <a:prstGeom prst="roundRect">
            <a:avLst/>
          </a:prstGeom>
          <a:solidFill>
            <a:srgbClr val="111830"/>
          </a:solidFill>
          <a:ln w="6350">
            <a:solidFill>
              <a:srgbClr val="4F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4808" y="2715768"/>
            <a:ext cx="106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7DFF"/>
                </a:solidFill>
              </a:defRPr>
            </a:pPr>
            <a:r>
              <a:t>3d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4808" y="3099816"/>
            <a:ext cx="106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5B8"/>
                </a:solidFill>
              </a:defRPr>
            </a:pPr>
            <a:r>
              <a:t>Promedio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3584448"/>
            <a:ext cx="325526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8B95B8"/>
                </a:solidFill>
              </a:defRPr>
            </a:pPr>
            <a:r>
              <a:t>POR PRIORIDAD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3813048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B8"/>
                </a:solidFill>
              </a:defRPr>
            </a:pPr>
            <a:r>
              <a:t>Urg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" y="3840480"/>
            <a:ext cx="850391" cy="109728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64207" y="3840480"/>
            <a:ext cx="1984248" cy="109728"/>
          </a:xfrm>
          <a:prstGeom prst="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406908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B8"/>
                </a:solidFill>
              </a:defRPr>
            </a:pPr>
            <a:r>
              <a:t>Alt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" y="4096512"/>
            <a:ext cx="1275587" cy="109728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089403" y="4096512"/>
            <a:ext cx="1559051" cy="109728"/>
          </a:xfrm>
          <a:prstGeom prst="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432511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B8"/>
                </a:solidFill>
              </a:defRPr>
            </a:pPr>
            <a:r>
              <a:t>Nor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" y="4352544"/>
            <a:ext cx="1984248" cy="10972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98064" y="4352544"/>
            <a:ext cx="850391" cy="109728"/>
          </a:xfrm>
          <a:prstGeom prst="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4581144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B8"/>
                </a:solidFill>
              </a:defRPr>
            </a:pPr>
            <a:r>
              <a:t>Baj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" y="4608576"/>
            <a:ext cx="566927" cy="109728"/>
          </a:xfrm>
          <a:prstGeom prst="rect">
            <a:avLst/>
          </a:prstGeom>
          <a:solidFill>
            <a:srgbClr val="565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80743" y="4608576"/>
            <a:ext cx="2267711" cy="109728"/>
          </a:xfrm>
          <a:prstGeom prst="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389120" y="777240"/>
            <a:ext cx="3657600" cy="539496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7DFF"/>
                </a:solidFill>
              </a:defRPr>
            </a:pPr>
            <a:r>
              <a:t>Acceso y uso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1325880"/>
            <a:ext cx="54864" cy="731520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0" y="129844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7DFF"/>
                </a:solidFill>
              </a:defRPr>
            </a:pPr>
            <a:r>
              <a:t>Como acceder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15361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Toca el menu (...) en la parte superior derecha, luego 'Estadisticas'.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2194559"/>
            <a:ext cx="54864" cy="73152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0" y="2167127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D07F"/>
                </a:solidFill>
              </a:defRPr>
            </a:pPr>
            <a:r>
              <a:t>Stat cards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0" y="24048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Muestra 6 metricas clave: Total, Abiertos, En proceso, Resueltos, En espera, Promedio.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063239"/>
            <a:ext cx="54864" cy="731520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0" y="303580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C6C"/>
                </a:solidFill>
              </a:defRPr>
            </a:pPr>
            <a:r>
              <a:t>Barras por prioridad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327355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Grafico de barras con reportes por nivel de prioridad.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931920"/>
            <a:ext cx="54864" cy="73152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0" y="3904487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454"/>
                </a:solidFill>
              </a:defRPr>
            </a:pPr>
            <a:r>
              <a:t>Ultimos 7 dias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54880" y="41422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Cuantos reportes se crearon en la ultima semana.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0" y="4800599"/>
            <a:ext cx="54864" cy="731520"/>
          </a:xfrm>
          <a:prstGeom prst="rect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0" y="4773167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7AFF"/>
                </a:solidFill>
              </a:defRPr>
            </a:pPr>
            <a:r>
              <a:t>Datos en tiempo real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0" y="501091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Las estadisticas se actualizan cada vez que accedes.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Reportes Archivados</a:t>
            </a:r>
          </a:p>
          <a:p>
            <a:pPr>
              <a:spcBef>
                <a:spcPts val="400"/>
              </a:spcBef>
              <a:defRPr sz="1400">
                <a:solidFill>
                  <a:srgbClr val="8B95B8"/>
                </a:solidFill>
              </a:defRPr>
            </a:pPr>
            <a:r>
              <a:t>Reportes resueltos automaticamente despues de 24 horas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667512"/>
            <a:ext cx="3657600" cy="6217920"/>
          </a:xfrm>
          <a:prstGeom prst="round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640080"/>
            <a:ext cx="3657600" cy="6217920"/>
          </a:xfrm>
          <a:prstGeom prst="roundRect">
            <a:avLst/>
          </a:prstGeom>
          <a:solidFill>
            <a:srgbClr val="0F1526"/>
          </a:solidFill>
          <a:ln w="635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" y="704088"/>
            <a:ext cx="3529584" cy="6089904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1640" y="649224"/>
            <a:ext cx="822960" cy="36576"/>
          </a:xfrm>
          <a:prstGeom prst="rect">
            <a:avLst/>
          </a:prstGeom>
          <a:solidFill>
            <a:srgbClr val="0F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" y="704088"/>
            <a:ext cx="3529584" cy="384048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786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777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F2FF"/>
                </a:solidFill>
              </a:defRPr>
            </a:pPr>
            <a:r>
              <a:t>NexAlert</a:t>
            </a:r>
          </a:p>
        </p:txBody>
      </p:sp>
      <p:sp>
        <p:nvSpPr>
          <p:cNvPr id="13" name="Oval 12"/>
          <p:cNvSpPr/>
          <p:nvPr/>
        </p:nvSpPr>
        <p:spPr>
          <a:xfrm>
            <a:off x="3227831" y="777240"/>
            <a:ext cx="237744" cy="237744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1" y="77724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5" y="77724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5B8"/>
                </a:solidFill>
              </a:defRPr>
            </a:pPr>
            <a: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117957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F7DFF"/>
                </a:solidFill>
              </a:defRPr>
            </a:pPr>
            <a:r>
              <a:t>&lt; Volver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1453895"/>
            <a:ext cx="3255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EF2FF"/>
                </a:solidFill>
              </a:defRPr>
            </a:pPr>
            <a:r>
              <a:t>Archivados (5)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1673352"/>
            <a:ext cx="32552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Resueltos con mas de 24h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" y="1892808"/>
            <a:ext cx="3310128" cy="713232"/>
          </a:xfrm>
          <a:prstGeom prst="roundRect">
            <a:avLst/>
          </a:prstGeom>
          <a:solidFill>
            <a:srgbClr val="111830"/>
          </a:solidFill>
          <a:ln w="381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" y="1892808"/>
            <a:ext cx="27432" cy="713232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" y="1947672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EF2FF"/>
                </a:solidFill>
              </a:defRPr>
            </a:pPr>
            <a:r>
              <a:t>Ecopetrol SA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82111" y="1947672"/>
            <a:ext cx="722376" cy="182880"/>
          </a:xfrm>
          <a:prstGeom prst="roundRect">
            <a:avLst/>
          </a:prstGeom>
          <a:solidFill>
            <a:srgbClr val="0F2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82111" y="1956816"/>
            <a:ext cx="722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Resuelto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" y="2148840"/>
            <a:ext cx="31272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Turbina TG-200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" y="233172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B8"/>
                </a:solidFill>
              </a:defRPr>
            </a:pPr>
            <a:r>
              <a:t>Carlos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" y="2715768"/>
            <a:ext cx="3310128" cy="713232"/>
          </a:xfrm>
          <a:prstGeom prst="roundRect">
            <a:avLst/>
          </a:prstGeom>
          <a:solidFill>
            <a:srgbClr val="111830"/>
          </a:solidFill>
          <a:ln w="381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" y="2715768"/>
            <a:ext cx="27432" cy="713232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" y="2770632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EF2FF"/>
                </a:solidFill>
              </a:defRPr>
            </a:pPr>
            <a:r>
              <a:t>Cementos Argos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82111" y="2770632"/>
            <a:ext cx="722376" cy="182880"/>
          </a:xfrm>
          <a:prstGeom prst="roundRect">
            <a:avLst/>
          </a:prstGeom>
          <a:solidFill>
            <a:srgbClr val="0F2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82111" y="2779776"/>
            <a:ext cx="722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Resuelto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" y="2971800"/>
            <a:ext cx="31272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Horno rotary HR-3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315468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B8"/>
                </a:solidFill>
              </a:defRPr>
            </a:pPr>
            <a:r>
              <a:t>Ana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" y="3538728"/>
            <a:ext cx="3310128" cy="713232"/>
          </a:xfrm>
          <a:prstGeom prst="roundRect">
            <a:avLst/>
          </a:prstGeom>
          <a:solidFill>
            <a:srgbClr val="111830"/>
          </a:solidFill>
          <a:ln w="381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056" y="3538728"/>
            <a:ext cx="27432" cy="713232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3593592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EF2FF"/>
                </a:solidFill>
              </a:defRPr>
            </a:pPr>
            <a:r>
              <a:t>Minera del Sur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82111" y="3593592"/>
            <a:ext cx="722376" cy="182880"/>
          </a:xfrm>
          <a:prstGeom prst="roundRect">
            <a:avLst/>
          </a:prstGeom>
          <a:solidFill>
            <a:srgbClr val="0F2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82111" y="3602736"/>
            <a:ext cx="722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Resuelto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" y="3794760"/>
            <a:ext cx="31272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Trituradora TR-50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" y="3977639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B8"/>
                </a:solidFill>
              </a:defRPr>
            </a:pPr>
            <a:r>
              <a:t>Luis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777240"/>
            <a:ext cx="3657600" cy="292608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D07F"/>
                </a:solidFill>
              </a:defRPr>
            </a:pPr>
            <a:r>
              <a:t>Sobre los archivados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1325880"/>
            <a:ext cx="54864" cy="45720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129844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D07F"/>
                </a:solidFill>
              </a:defRPr>
            </a:pPr>
            <a:r>
              <a:t>Auto-archivado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1481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Los reportes en estado 'resuelto' se archivan despues de 24 horas.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1920239"/>
            <a:ext cx="54864" cy="457200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0" y="1892807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7DFF"/>
                </a:solidFill>
              </a:defRPr>
            </a:pPr>
            <a:r>
              <a:t>Acceder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20756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Menu (...) &gt; Archivados. Se muestra la lista completa.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2514600"/>
            <a:ext cx="54864" cy="457200"/>
          </a:xfrm>
          <a:prstGeom prst="rect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0" y="248716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5B8"/>
                </a:solidFill>
              </a:defRPr>
            </a:pPr>
            <a:r>
              <a:t>Solo lectura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26700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Los archivados son de consulta. No se pueden editar.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3108960"/>
            <a:ext cx="54864" cy="457200"/>
          </a:xfrm>
          <a:prstGeom prst="rect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0" y="308152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7AFF"/>
                </a:solidFill>
              </a:defRPr>
            </a:pPr>
            <a:r>
              <a:t>Detalle completo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32644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Toca un archivado para ver toda su informacion original.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89120" y="3840480"/>
            <a:ext cx="3657600" cy="228600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0" y="3931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7DFF"/>
                </a:solidFill>
              </a:defRPr>
            </a:pPr>
            <a:r>
              <a:t>Menu desplegable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2976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7DFF"/>
                </a:solidFill>
              </a:defRPr>
            </a:pPr>
            <a:r>
              <a:t>Monitoreo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79" y="4297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Ver todos los reportes (solo gerente)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45902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FD07F"/>
                </a:solidFill>
              </a:defRPr>
            </a:pPr>
            <a:r>
              <a:t>Archivados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79" y="45902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Reportes resueltos +24h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48828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07AFF"/>
                </a:solidFill>
              </a:defRPr>
            </a:pPr>
            <a:r>
              <a:t>Estadisticas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79" y="48828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Dashboard con metricas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63440" y="517550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B454"/>
                </a:solidFill>
              </a:defRPr>
            </a:pPr>
            <a:r>
              <a:t>Actualizar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79" y="517550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Sync manual de datos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63440" y="54681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95B8"/>
                </a:solidFill>
              </a:defRPr>
            </a:pPr>
            <a:r>
              <a:t>Tema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79" y="546811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Cambiar claro/oscuro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57607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C6C"/>
                </a:solidFill>
              </a:defRPr>
            </a:pPr>
            <a:r>
              <a:t>Cerrar sesion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79" y="57607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B8"/>
                </a:solidFill>
              </a:defRPr>
            </a:pPr>
            <a:r>
              <a:t>Salir de la 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Notificaciones Push</a:t>
            </a:r>
          </a:p>
          <a:p>
            <a:pPr>
              <a:spcBef>
                <a:spcPts val="400"/>
              </a:spcBef>
              <a:defRPr sz="1400">
                <a:solidFill>
                  <a:srgbClr val="8B95B8"/>
                </a:solidFill>
              </a:defRPr>
            </a:pPr>
            <a:r>
              <a:t>Recibe alertas importantes en tu dispositivo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303520" cy="192024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7DFF"/>
                </a:solidFill>
              </a:defRPr>
            </a:pPr>
            <a:r>
              <a:t>Ejemplo de notificaciones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4937760" cy="411480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36576" cy="411480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34416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F7DFF"/>
                </a:solidFill>
              </a:defRPr>
            </a:pPr>
            <a:r>
              <a:t>NexAlert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5087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Se te asigno el reporte #45 de Compresores XYZ por falla en motor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4937760" cy="411480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783080"/>
            <a:ext cx="36576" cy="411480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80136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C6C"/>
                </a:solidFill>
              </a:defRPr>
            </a:pPr>
            <a:r>
              <a:t>NexAlert - URGENTE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9659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Nuevo reporte urgente: Parada total de linea de produccion en Minera del Sur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240280"/>
            <a:ext cx="4937760" cy="411480"/>
          </a:xfrm>
          <a:prstGeom prst="roundRect">
            <a:avLst/>
          </a:prstGeom>
          <a:solidFill>
            <a:srgbClr val="1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240280"/>
            <a:ext cx="36576" cy="41148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25856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B454"/>
                </a:solidFill>
              </a:defRPr>
            </a:pPr>
            <a:r>
              <a:t>NexAlert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423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B8"/>
                </a:solidFill>
              </a:defRPr>
            </a:pPr>
            <a:r>
              <a:t>El reporte #23 lleva 8 dias abierto. Por favor revisar y actualizar.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26080"/>
            <a:ext cx="5303520" cy="320040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17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7DFF"/>
                </a:solidFill>
              </a:defRPr>
            </a:pPr>
            <a:r>
              <a:t>Eventos que generan push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29000"/>
            <a:ext cx="54864" cy="38404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4015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7DFF"/>
                </a:solidFill>
              </a:defRPr>
            </a:pPr>
            <a:r>
              <a:t>Asignacion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4015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Te asignan un reporte nuevo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59352"/>
            <a:ext cx="54864" cy="384048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319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D07F"/>
                </a:solidFill>
              </a:defRPr>
            </a:pPr>
            <a:r>
              <a:t>Cambio de estado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931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El estado de tu reporte cambia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489704"/>
            <a:ext cx="54864" cy="384048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46227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454"/>
                </a:solidFill>
              </a:defRPr>
            </a:pPr>
            <a:r>
              <a:t>Nuevo mensaje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46227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El cliente responde por WhatsApp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20055"/>
            <a:ext cx="54864" cy="384048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992623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C6C"/>
                </a:solidFill>
              </a:defRPr>
            </a:pPr>
            <a:r>
              <a:t>Urgente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992623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Se crea un reporte urgente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550407"/>
            <a:ext cx="54864" cy="384048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522975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A4C"/>
                </a:solidFill>
              </a:defRPr>
            </a:pPr>
            <a:r>
              <a:t>Recordatorio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522975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Reporte sin resolver por +7 dias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822960"/>
            <a:ext cx="5669280" cy="530352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914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7DFF"/>
                </a:solidFill>
              </a:defRPr>
            </a:pPr>
            <a:r>
              <a:t>Configuracion de notificaciones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1325880"/>
            <a:ext cx="54864" cy="502920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29844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7DFF"/>
                </a:solidFill>
              </a:defRPr>
            </a:pPr>
            <a:r>
              <a:t>Acepta los permisos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Al instalar la app, acepta recibir notificaciones push.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1965959"/>
            <a:ext cx="54864" cy="50292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1938527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D07F"/>
                </a:solidFill>
              </a:defRPr>
            </a:pPr>
            <a:r>
              <a:t>Funciona con app cerrada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1488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Las notificaciones llegan incluso si la app no esta abierta.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2606039"/>
            <a:ext cx="54864" cy="502920"/>
          </a:xfrm>
          <a:prstGeom prst="rect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257860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7AFF"/>
                </a:solidFill>
              </a:defRPr>
            </a:pPr>
            <a:r>
              <a:t>Toca para abrir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788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Al tocar la notificacion, se abre la app en el reporte relevante.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246119"/>
            <a:ext cx="54864" cy="502920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218687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C6C"/>
                </a:solidFill>
              </a:defRPr>
            </a:pPr>
            <a:r>
              <a:t>No desactives las push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42899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Son esenciales para no perderte asignaciones y cambios importantes.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886199"/>
            <a:ext cx="54864" cy="502920"/>
          </a:xfrm>
          <a:prstGeom prst="rect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858767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95B8"/>
                </a:solidFill>
              </a:defRPr>
            </a:pPr>
            <a:r>
              <a:t>Firebase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06907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Usamos Firebase Cloud Messaging para entregar notificaciones confiables.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526280"/>
            <a:ext cx="54864" cy="50292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449884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454"/>
                </a:solidFill>
              </a:defRPr>
            </a:pPr>
            <a:r>
              <a:t>Token unico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709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Cada dispositivo tiene un token unico para recibir sus notificaciones.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5166359"/>
            <a:ext cx="54864" cy="50292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5138927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D07F"/>
                </a:solidFill>
              </a:defRPr>
            </a:pPr>
            <a:r>
              <a:t>Actualizaciones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349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Tambien recibes aviso cuando hay una nueva version de la app.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23560" y="365760"/>
            <a:ext cx="1005840" cy="1005840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475488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GRACIAS POR SU ATENCION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5B8"/>
                </a:solidFill>
              </a:defRPr>
            </a:pPr>
            <a:r>
              <a:t>Estas listo para usar NexAlert en campo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3017520"/>
            <a:ext cx="2468880" cy="27432"/>
          </a:xfrm>
          <a:prstGeom prst="rect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3383280"/>
            <a:ext cx="8503920" cy="2834640"/>
          </a:xfrm>
          <a:prstGeom prst="round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347472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7DFF"/>
                </a:solidFill>
              </a:defRPr>
            </a:pPr>
            <a:r>
              <a:t>Lo que aprendiste hoy</a:t>
            </a:r>
          </a:p>
        </p:txBody>
      </p:sp>
      <p:sp>
        <p:nvSpPr>
          <p:cNvPr id="12" name="Oval 11"/>
          <p:cNvSpPr/>
          <p:nvPr/>
        </p:nvSpPr>
        <p:spPr>
          <a:xfrm>
            <a:off x="2103120" y="3913632"/>
            <a:ext cx="182880" cy="182880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3904487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39" y="3886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EF2FF"/>
                </a:solidFill>
              </a:defRPr>
            </a:pPr>
            <a:r>
              <a:t>Login y biometria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39" y="406908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Acceder a la app de forma segura</a:t>
            </a:r>
          </a:p>
        </p:txBody>
      </p:sp>
      <p:sp>
        <p:nvSpPr>
          <p:cNvPr id="16" name="Oval 15"/>
          <p:cNvSpPr/>
          <p:nvPr/>
        </p:nvSpPr>
        <p:spPr>
          <a:xfrm>
            <a:off x="6309359" y="3913632"/>
            <a:ext cx="182880" cy="182880"/>
          </a:xfrm>
          <a:prstGeom prst="ellipse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3904487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886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EF2FF"/>
                </a:solidFill>
              </a:defRPr>
            </a:pPr>
            <a:r>
              <a:t>Crear reportes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406908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Documentar fallas con descripcion clara</a:t>
            </a:r>
          </a:p>
        </p:txBody>
      </p:sp>
      <p:sp>
        <p:nvSpPr>
          <p:cNvPr id="20" name="Oval 19"/>
          <p:cNvSpPr/>
          <p:nvPr/>
        </p:nvSpPr>
        <p:spPr>
          <a:xfrm>
            <a:off x="2103120" y="4416552"/>
            <a:ext cx="182880" cy="182880"/>
          </a:xfrm>
          <a:prstGeom prst="ellipse">
            <a:avLst/>
          </a:prstGeom>
          <a:solidFill>
            <a:srgbClr val="B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4407407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43891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EF2FF"/>
                </a:solidFill>
              </a:defRPr>
            </a:pPr>
            <a:r>
              <a:t>Fotografias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39" y="457200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Capturar evidencia visual del problema</a:t>
            </a:r>
          </a:p>
        </p:txBody>
      </p:sp>
      <p:sp>
        <p:nvSpPr>
          <p:cNvPr id="24" name="Oval 23"/>
          <p:cNvSpPr/>
          <p:nvPr/>
        </p:nvSpPr>
        <p:spPr>
          <a:xfrm>
            <a:off x="6309359" y="4416552"/>
            <a:ext cx="182880" cy="18288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4407407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43891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EF2FF"/>
                </a:solidFill>
              </a:defRPr>
            </a:pPr>
            <a:r>
              <a:t>Cambiar estados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457200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Actualizar el progreso de la reparacion</a:t>
            </a:r>
          </a:p>
        </p:txBody>
      </p:sp>
      <p:sp>
        <p:nvSpPr>
          <p:cNvPr id="28" name="Oval 27"/>
          <p:cNvSpPr/>
          <p:nvPr/>
        </p:nvSpPr>
        <p:spPr>
          <a:xfrm>
            <a:off x="2103120" y="4919472"/>
            <a:ext cx="182880" cy="182880"/>
          </a:xfrm>
          <a:prstGeom prst="ellipse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4910327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39" y="4892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EF2FF"/>
                </a:solidFill>
              </a:defRPr>
            </a:pPr>
            <a:r>
              <a:t>Firma digital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39" y="50749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Confirmar entrega con firma del cliente</a:t>
            </a:r>
          </a:p>
        </p:txBody>
      </p:sp>
      <p:sp>
        <p:nvSpPr>
          <p:cNvPr id="32" name="Oval 31"/>
          <p:cNvSpPr/>
          <p:nvPr/>
        </p:nvSpPr>
        <p:spPr>
          <a:xfrm>
            <a:off x="6309359" y="4919472"/>
            <a:ext cx="182880" cy="182880"/>
          </a:xfrm>
          <a:prstGeom prst="ellipse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59" y="4910327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9" y="4892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EF2FF"/>
                </a:solidFill>
              </a:defRPr>
            </a:pPr>
            <a:r>
              <a:t>Modo offline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79" y="50749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Trabajar sin conexion y sincronizar despues</a:t>
            </a:r>
          </a:p>
        </p:txBody>
      </p:sp>
      <p:sp>
        <p:nvSpPr>
          <p:cNvPr id="36" name="Oval 35"/>
          <p:cNvSpPr/>
          <p:nvPr/>
        </p:nvSpPr>
        <p:spPr>
          <a:xfrm>
            <a:off x="2103120" y="5422392"/>
            <a:ext cx="182880" cy="182880"/>
          </a:xfrm>
          <a:prstGeom prst="ellipse">
            <a:avLst/>
          </a:prstGeom>
          <a:solidFill>
            <a:srgbClr val="4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03120" y="5413248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39" y="53949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EF2FF"/>
                </a:solidFill>
              </a:defRPr>
            </a:pPr>
            <a:r>
              <a:t>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39" y="557784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Ver estadisticas y metricas de rendimiento</a:t>
            </a:r>
          </a:p>
        </p:txBody>
      </p:sp>
      <p:sp>
        <p:nvSpPr>
          <p:cNvPr id="40" name="Oval 39"/>
          <p:cNvSpPr/>
          <p:nvPr/>
        </p:nvSpPr>
        <p:spPr>
          <a:xfrm>
            <a:off x="6309359" y="5422392"/>
            <a:ext cx="182880" cy="182880"/>
          </a:xfrm>
          <a:prstGeom prst="ellipse">
            <a:avLst/>
          </a:prstGeom>
          <a:solidFill>
            <a:srgbClr val="8B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59" y="5413248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79" y="53949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EF2FF"/>
                </a:solidFill>
              </a:defRPr>
            </a:pPr>
            <a:r>
              <a:t>Archivados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79" y="557784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B8"/>
                </a:solidFill>
              </a:defRPr>
            </a:pPr>
            <a:r>
              <a:t>Consultar reportes resueltos automaticamente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B8"/>
                </a:solidFill>
              </a:defRPr>
            </a:pPr>
            <a:r>
              <a:t>NEXUS  |  v1.5.5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